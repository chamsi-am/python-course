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25" r:id="rId1"/>
  </p:sldMasterIdLst>
  <p:notesMasterIdLst>
    <p:notesMasterId r:id="rId16"/>
  </p:notesMasterIdLst>
  <p:sldIdLst>
    <p:sldId id="256" r:id="rId2"/>
    <p:sldId id="293" r:id="rId3"/>
    <p:sldId id="287" r:id="rId4"/>
    <p:sldId id="288" r:id="rId5"/>
    <p:sldId id="289" r:id="rId6"/>
    <p:sldId id="290" r:id="rId7"/>
    <p:sldId id="291" r:id="rId8"/>
    <p:sldId id="294" r:id="rId9"/>
    <p:sldId id="295" r:id="rId10"/>
    <p:sldId id="296" r:id="rId11"/>
    <p:sldId id="297" r:id="rId12"/>
    <p:sldId id="298" r:id="rId13"/>
    <p:sldId id="300" r:id="rId14"/>
    <p:sldId id="299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1C3C"/>
    <a:srgbClr val="3C7846"/>
    <a:srgbClr val="28296A"/>
    <a:srgbClr val="0B05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0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</inkml:traceFormat>
        <inkml:channelProperties>
          <inkml:channelProperty channel="X" name="resolution" value="336.48792" units="1/cm"/>
          <inkml:channelProperty channel="Y" name="resolution" value="378.54889" units="1/cm"/>
        </inkml:channelProperties>
      </inkml:inkSource>
      <inkml:timestamp xml:id="ts0" timeString="2026-06-23T13:46:47.428"/>
    </inkml:context>
    <inkml:brush xml:id="br0">
      <inkml:brushProperty name="width" value="0.05292" units="cm"/>
      <inkml:brushProperty name="height" value="0.05292" units="cm"/>
      <inkml:brushProperty name="color" value="#1C1B1F"/>
    </inkml:brush>
  </inkml:definitions>
  <inkml:trace contextRef="#ctx0" brushRef="#br0">26 26,'71'114,"-71"-114,0 0,0 0,0 0,0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57FD80-104E-477A-84DF-AAA7C9A1979B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395387-B1C2-442A-BF85-CE86727D2772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9269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4514F-D43A-A42F-F995-18DDCE570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436F4F-A1C7-F451-F6C3-A1507AB0D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8F2D3-5BB4-C5B7-C4F3-4E551F27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A541-B7A6-8C7A-8595-068F77479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CD86-6972-4C04-F108-BD052DD0D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1929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D6DE-BECF-C841-2293-363F5801C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4E547-D5E7-908E-D294-01BE30412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043825-EDF6-C1B6-0FA4-B0FF16C0A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944C-115D-7C85-74A4-388121262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5045-82D0-03FD-49A8-8483FA8FB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007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E3538-AF09-0B60-F393-3DF3406D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00258-D7D2-063D-D4AC-47EC9C8F4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CBC68-6842-434F-0CDA-8DD536869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66577-1D54-715B-8AE8-C23448D7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E1C9A-FF65-1394-F64F-AA065144A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82329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3D00-61F9-7D05-C411-6B73E06E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8DF50-037A-3C15-2C3E-08B916B90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21D7C0-03E8-0DE3-4542-9C53BF651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7D3AF-8813-6E1F-DA13-61235A24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32F4C-E458-C9B9-FEE0-950555BA8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386A0-3DDA-1393-25AC-6633772CA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858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07730-885C-D7F8-D8AF-7BFFD2DB7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16968-DB35-9B17-16D7-9E8E179C45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63528-11C3-BF1A-650D-55D23FA6C2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83F0D4-6AEE-D2C3-0E17-9EC20ECE80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3901C-34E2-FDDE-C04B-8A57A58E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F33B50-4B92-0DCF-E2FC-E678A774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F502E-4048-BC09-9EEA-3DD37BD88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2AFAC6-BC30-CA12-3D0F-5E5B39A8C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49965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30565-D954-DD51-FC61-7354BF571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3D8855-A4E2-0FB6-F3AB-6E6B78D5F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0BA00B-F3B4-3A54-0B38-81611AA24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A485BC-2DE8-2A65-7AE0-3D1B23F5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33956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18452-EF96-33BB-7F6E-0DDA165D0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F7A3FB-2588-2460-33BD-3829251A6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B309-BD21-BDD0-56C2-C2B453809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996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FEBD-EFB0-5161-8EF3-1A9BA24BE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CA531-4543-FF8B-A654-EDE6D9CA3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517CA-852A-BF22-AC90-E0AE9FC1C9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14E24-AF51-C383-CE4B-AE6BA24B3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B76C4-7C27-40C1-49F4-B1EE093D8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60C3B-9FE7-1976-47D7-66560038E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36222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54D93-C144-23C7-CA6F-873A6CC6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9215AF-1716-570B-4136-CFE06A6FC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0860D-1DC4-1A90-F460-22FC03F6B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0B7BE-BD4D-D22D-5404-40B409D46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CCFDF-5FAD-472D-B59B-4F5C73ED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70FAB-0F52-5E6D-FC32-8B45CCA4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63027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23BC2-667F-79D3-E71A-A3B96D660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AB11B3-DA3C-0543-E67C-1EC247C40B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8CA22-B69F-103A-904F-45E3E910C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624D7-40B0-DC4E-C182-4FB2B10F3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2B130-8251-A5B5-5693-BCD91E028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88598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596F4-2BD9-11C5-1555-DAEDCBFFF2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28060-A750-36DB-C41C-E8512933D2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6DE29-FDD0-B267-7BC1-07A2264DB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CE0C-4578-5368-B11B-6AB263C1A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645D4-8321-BC8B-15AD-5C930D1F4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230847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189880" y="2574000"/>
            <a:ext cx="4493520" cy="1495800"/>
          </a:xfrm>
          <a:prstGeom prst="rect">
            <a:avLst/>
          </a:prstGeom>
          <a:noFill/>
          <a:ln w="0">
            <a:noFill/>
          </a:ln>
          <a:effectLst>
            <a:outerShdw blurRad="57240" dist="19080" dir="5400000" rotWithShape="0">
              <a:srgbClr val="000000">
                <a:alpha val="5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94203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33860E-B5F2-D006-098F-5A530B6F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BB4DC-DF4C-F411-CE4C-83FFF29CF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72BCA-DAAD-FDF6-DB26-BFA1C80649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53421B-4862-4D3A-B9AB-BA663EF3CA0D}" type="datetimeFigureOut">
              <a:rPr lang="en-ZA" smtClean="0"/>
              <a:t>2026/06/29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35681-8A91-D98D-3E29-2C45B3998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9544A-EECF-EBAD-93C7-517233F01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97361-9586-496E-9D0C-05473371388D}" type="slidenum">
              <a:rPr lang="en-ZA" smtClean="0"/>
              <a:t>‹N°›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2812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Python programming course cover design">
            <a:extLst>
              <a:ext uri="{FF2B5EF4-FFF2-40B4-BE49-F238E27FC236}">
                <a16:creationId xmlns:a16="http://schemas.microsoft.com/office/drawing/2014/main" id="{AAACFFB3-435A-D176-4314-2BD5401AD6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C2ABBC-EDAF-BC7E-4C08-81CF758A52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6322"/>
          <a:stretch>
            <a:fillRect/>
          </a:stretch>
        </p:blipFill>
        <p:spPr>
          <a:xfrm>
            <a:off x="1" y="0"/>
            <a:ext cx="9144000" cy="50480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87CFE480-461F-4820-8B89-93E0429886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51" b="6251"/>
          <a:stretch/>
        </p:blipFill>
        <p:spPr>
          <a:xfrm>
            <a:off x="0" y="17859"/>
            <a:ext cx="9144000" cy="510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20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84C2DF6-122D-4187-80F5-9542BEE13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870512"/>
              </p:ext>
            </p:extLst>
          </p:nvPr>
        </p:nvGraphicFramePr>
        <p:xfrm>
          <a:off x="575920" y="737582"/>
          <a:ext cx="8085936" cy="354002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17516">
                  <a:extLst>
                    <a:ext uri="{9D8B030D-6E8A-4147-A177-3AD203B41FA5}">
                      <a16:colId xmlns:a16="http://schemas.microsoft.com/office/drawing/2014/main" val="2508244162"/>
                    </a:ext>
                  </a:extLst>
                </a:gridCol>
                <a:gridCol w="2825452">
                  <a:extLst>
                    <a:ext uri="{9D8B030D-6E8A-4147-A177-3AD203B41FA5}">
                      <a16:colId xmlns:a16="http://schemas.microsoft.com/office/drawing/2014/main" val="3478893625"/>
                    </a:ext>
                  </a:extLst>
                </a:gridCol>
                <a:gridCol w="1231251">
                  <a:extLst>
                    <a:ext uri="{9D8B030D-6E8A-4147-A177-3AD203B41FA5}">
                      <a16:colId xmlns:a16="http://schemas.microsoft.com/office/drawing/2014/main" val="3077749500"/>
                    </a:ext>
                  </a:extLst>
                </a:gridCol>
                <a:gridCol w="2811717">
                  <a:extLst>
                    <a:ext uri="{9D8B030D-6E8A-4147-A177-3AD203B41FA5}">
                      <a16:colId xmlns:a16="http://schemas.microsoft.com/office/drawing/2014/main" val="4181547111"/>
                    </a:ext>
                  </a:extLst>
                </a:gridCol>
              </a:tblGrid>
              <a:tr h="407259">
                <a:tc>
                  <a:txBody>
                    <a:bodyPr/>
                    <a:lstStyle/>
                    <a:p>
                      <a:r>
                        <a:rPr lang="en-US" b="1"/>
                        <a:t>Operator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Name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Result (if x = 5, y = 2)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2927688"/>
                  </a:ext>
                </a:extLst>
              </a:tr>
              <a:tr h="407259">
                <a:tc>
                  <a:txBody>
                    <a:bodyPr/>
                    <a:lstStyle/>
                    <a:p>
                      <a:r>
                        <a:rPr lang="en-US"/>
                        <a:t>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Addition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+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0120526"/>
                  </a:ext>
                </a:extLst>
              </a:tr>
              <a:tr h="407259"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Subtraction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-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7764488"/>
                  </a:ext>
                </a:extLst>
              </a:tr>
              <a:tr h="407259">
                <a:tc>
                  <a:txBody>
                    <a:bodyPr/>
                    <a:lstStyle/>
                    <a:p>
                      <a:r>
                        <a:rPr lang="en-US"/>
                        <a:t>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Multiplication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*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2181163"/>
                  </a:ext>
                </a:extLst>
              </a:tr>
              <a:tr h="407259">
                <a:tc>
                  <a:txBody>
                    <a:bodyPr/>
                    <a:lstStyle/>
                    <a:p>
                      <a:r>
                        <a:rPr lang="en-US"/>
                        <a:t>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Division (Float)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/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438209"/>
                  </a:ext>
                </a:extLst>
              </a:tr>
              <a:tr h="689208">
                <a:tc>
                  <a:txBody>
                    <a:bodyPr/>
                    <a:lstStyle/>
                    <a:p>
                      <a:r>
                        <a:rPr lang="en-US"/>
                        <a:t>//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Floor Division (Rounds down)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//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007661"/>
                  </a:ext>
                </a:extLst>
              </a:tr>
              <a:tr h="407259">
                <a:tc>
                  <a:txBody>
                    <a:bodyPr/>
                    <a:lstStyle/>
                    <a:p>
                      <a:r>
                        <a:rPr lang="en-US"/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Modulus (Remainder)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%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1385502"/>
                  </a:ext>
                </a:extLst>
              </a:tr>
              <a:tr h="407259">
                <a:tc>
                  <a:txBody>
                    <a:bodyPr/>
                    <a:lstStyle/>
                    <a:p>
                      <a:r>
                        <a:rPr lang="en-US"/>
                        <a:t>**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Exponentiation (Power)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x **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899987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1849281-73DD-487D-87A5-074AF27379BD}"/>
              </a:ext>
            </a:extLst>
          </p:cNvPr>
          <p:cNvSpPr/>
          <p:nvPr/>
        </p:nvSpPr>
        <p:spPr>
          <a:xfrm>
            <a:off x="120031" y="113713"/>
            <a:ext cx="24903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1. Arithmetic Operators </a:t>
            </a:r>
          </a:p>
        </p:txBody>
      </p:sp>
    </p:spTree>
    <p:extLst>
      <p:ext uri="{BB962C8B-B14F-4D97-AF65-F5344CB8AC3E}">
        <p14:creationId xmlns:p14="http://schemas.microsoft.com/office/powerpoint/2010/main" val="972872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DBA696-83F2-4C7B-9501-8840F3F4C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880" y="1111645"/>
            <a:ext cx="697166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 =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Standard assignment 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= 5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+=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Add and assign 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+= 3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equivalent to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= x + 3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Subtract and assign 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-= 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equivalent to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= x - 2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Multiply and assign 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*= 4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equivalent to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= x * 4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/=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: Divide and assign (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/= 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equivalent to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x = x / 2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en-US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F4A2FD-0025-4BAD-A984-F67E67457E6E}"/>
              </a:ext>
            </a:extLst>
          </p:cNvPr>
          <p:cNvSpPr/>
          <p:nvPr/>
        </p:nvSpPr>
        <p:spPr>
          <a:xfrm>
            <a:off x="539622" y="513113"/>
            <a:ext cx="2537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2. Assignment Operators</a:t>
            </a:r>
          </a:p>
        </p:txBody>
      </p:sp>
    </p:spTree>
    <p:extLst>
      <p:ext uri="{BB962C8B-B14F-4D97-AF65-F5344CB8AC3E}">
        <p14:creationId xmlns:p14="http://schemas.microsoft.com/office/powerpoint/2010/main" val="3336944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C78A37-CB58-4FC3-ACB2-F5702ACCD550}"/>
              </a:ext>
            </a:extLst>
          </p:cNvPr>
          <p:cNvSpPr/>
          <p:nvPr/>
        </p:nvSpPr>
        <p:spPr>
          <a:xfrm>
            <a:off x="377076" y="437038"/>
            <a:ext cx="2529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3. Comparison Operators</a:t>
            </a: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23D60B38-3614-453D-87F7-EBBCEB07A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858046"/>
              </p:ext>
            </p:extLst>
          </p:nvPr>
        </p:nvGraphicFramePr>
        <p:xfrm>
          <a:off x="628650" y="964919"/>
          <a:ext cx="7886700" cy="3111941"/>
        </p:xfrm>
        <a:graphic>
          <a:graphicData uri="http://schemas.openxmlformats.org/drawingml/2006/table">
            <a:tbl>
              <a:tblPr/>
              <a:tblGrid>
                <a:gridCol w="1280981">
                  <a:extLst>
                    <a:ext uri="{9D8B030D-6E8A-4147-A177-3AD203B41FA5}">
                      <a16:colId xmlns:a16="http://schemas.microsoft.com/office/drawing/2014/main" val="3288390540"/>
                    </a:ext>
                  </a:extLst>
                </a:gridCol>
                <a:gridCol w="2662369">
                  <a:extLst>
                    <a:ext uri="{9D8B030D-6E8A-4147-A177-3AD203B41FA5}">
                      <a16:colId xmlns:a16="http://schemas.microsoft.com/office/drawing/2014/main" val="3456096689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58284183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2536556533"/>
                    </a:ext>
                  </a:extLst>
                </a:gridCol>
              </a:tblGrid>
              <a:tr h="444563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Operator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Meaning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Example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  <a:latin typeface="Google Sans Text"/>
                        </a:rPr>
                        <a:t>Result (if x = 5, y = 3)</a:t>
                      </a:r>
                      <a:endParaRPr lang="en-US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779387"/>
                  </a:ext>
                </a:extLst>
              </a:tr>
              <a:tr h="444563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==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Equal to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x == y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00883"/>
                  </a:ext>
                </a:extLst>
              </a:tr>
              <a:tr h="444563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!=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Not equal to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x != y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True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568138"/>
                  </a:ext>
                </a:extLst>
              </a:tr>
              <a:tr h="444563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&gt;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Greater than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x &gt; y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True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7229484"/>
                  </a:ext>
                </a:extLst>
              </a:tr>
              <a:tr h="444563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&lt;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Less than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x &lt; y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891055"/>
                  </a:ext>
                </a:extLst>
              </a:tr>
              <a:tr h="444563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&gt;=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Greater than or equal to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x &gt;= 5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True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014525"/>
                  </a:ext>
                </a:extLst>
              </a:tr>
              <a:tr h="444563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&lt;=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Less than or equal to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  <a:latin typeface="Google Sans Text"/>
                        </a:rPr>
                        <a:t>y &lt;= 2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  <a:latin typeface="Google Sans Text"/>
                        </a:rPr>
                        <a:t>False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668335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07495f36-f45d-49e9-8862-9460da817307">
                <a:extLst>
                  <a:ext uri="{FF2B5EF4-FFF2-40B4-BE49-F238E27FC236}">
                    <a16:creationId xmlns:a16="http://schemas.microsoft.com/office/drawing/2014/main" id="{13F328FE-C1A4-412A-93F9-512F147942DA}"/>
                  </a:ext>
                </a:extLst>
              </p14:cNvPr>
              <p14:cNvContentPartPr/>
              <p14:nvPr>
                <p:custDataLst>
                  <p:tags r:id="rId1"/>
                </p:custDataLst>
              </p14:nvPr>
            </p14:nvContentPartPr>
            <p14:xfrm>
              <a:off x="8521700" y="3578860"/>
              <a:ext cx="26353" cy="41487"/>
            </p14:xfrm>
          </p:contentPart>
        </mc:Choice>
        <mc:Fallback xmlns="">
          <p:pic>
            <p:nvPicPr>
              <p:cNvPr id="4" name="07495f36-f45d-49e9-8862-9460da817307">
                <a:extLst>
                  <a:ext uri="{FF2B5EF4-FFF2-40B4-BE49-F238E27FC236}">
                    <a16:creationId xmlns:a16="http://schemas.microsoft.com/office/drawing/2014/main" id="{13F328FE-C1A4-412A-93F9-512F147942D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01548" y="3569229"/>
                <a:ext cx="66658" cy="6074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7994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E5F6D4-1B6E-4F04-9688-3407C56063D3}"/>
              </a:ext>
            </a:extLst>
          </p:cNvPr>
          <p:cNvSpPr/>
          <p:nvPr/>
        </p:nvSpPr>
        <p:spPr>
          <a:xfrm>
            <a:off x="463505" y="644167"/>
            <a:ext cx="20738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4. Logical Operators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1005EE1-4D84-4FD5-BA4F-B56F53AA2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4919" y="1078204"/>
            <a:ext cx="692114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combine conditional statements.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and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Returns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if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statements are true (e.g.,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 &gt; 3 and 4 &gt; 2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or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Returns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if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least one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statements is true (e.g.,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5 &gt; 3 or 1 &gt; 4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Reverses the logical result; returns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False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if the result is true (e.g.,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not(5 &gt; 3)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returns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False</a:t>
            </a: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6CE785-72BA-4816-92B6-BCB5C2257ABC}"/>
              </a:ext>
            </a:extLst>
          </p:cNvPr>
          <p:cNvSpPr/>
          <p:nvPr/>
        </p:nvSpPr>
        <p:spPr>
          <a:xfrm>
            <a:off x="463505" y="2760927"/>
            <a:ext cx="2126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5. Identity Operators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6AF61DA-FDD4-449A-BC28-931864ADB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270" y="3403576"/>
            <a:ext cx="629976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compare objects, not just their values. They check if both variables actually point to the exact same location in memory.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Returns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if both variables are the same object.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is not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Returns 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if both variables are not the same object.</a:t>
            </a: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699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F13682-5508-4771-B6FB-59C838D63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59" y="1720265"/>
            <a:ext cx="8325586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Membership Operators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test if a sequence (such as a string, list, or tuple) contains a specific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Returns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value is found in the sequence.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not in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Returns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if the value is not found in the sequence.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141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994E53EC-F365-495B-B01C-008D88B5D9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084263"/>
              </p:ext>
            </p:extLst>
          </p:nvPr>
        </p:nvGraphicFramePr>
        <p:xfrm>
          <a:off x="353635" y="424362"/>
          <a:ext cx="8113404" cy="4472911"/>
        </p:xfrm>
        <a:graphic>
          <a:graphicData uri="http://schemas.openxmlformats.org/drawingml/2006/table">
            <a:tbl>
              <a:tblPr/>
              <a:tblGrid>
                <a:gridCol w="1132954">
                  <a:extLst>
                    <a:ext uri="{9D8B030D-6E8A-4147-A177-3AD203B41FA5}">
                      <a16:colId xmlns:a16="http://schemas.microsoft.com/office/drawing/2014/main" val="2330026056"/>
                    </a:ext>
                  </a:extLst>
                </a:gridCol>
                <a:gridCol w="4004493">
                  <a:extLst>
                    <a:ext uri="{9D8B030D-6E8A-4147-A177-3AD203B41FA5}">
                      <a16:colId xmlns:a16="http://schemas.microsoft.com/office/drawing/2014/main" val="3089318472"/>
                    </a:ext>
                  </a:extLst>
                </a:gridCol>
                <a:gridCol w="2010077">
                  <a:extLst>
                    <a:ext uri="{9D8B030D-6E8A-4147-A177-3AD203B41FA5}">
                      <a16:colId xmlns:a16="http://schemas.microsoft.com/office/drawing/2014/main" val="4239900460"/>
                    </a:ext>
                  </a:extLst>
                </a:gridCol>
                <a:gridCol w="965880">
                  <a:extLst>
                    <a:ext uri="{9D8B030D-6E8A-4147-A177-3AD203B41FA5}">
                      <a16:colId xmlns:a16="http://schemas.microsoft.com/office/drawing/2014/main" val="4008904458"/>
                    </a:ext>
                  </a:extLst>
                </a:gridCol>
              </a:tblGrid>
              <a:tr h="336341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Function Name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Purpose / What it does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Example Code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Result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139610"/>
                  </a:ext>
                </a:extLst>
              </a:tr>
              <a:tr h="607556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round()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Rounds to the nearest whole number (or decimal place)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round(3.7)</a:t>
                      </a:r>
                    </a:p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round(3.1415, 2)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/>
                      </a:r>
                      <a:b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</a:b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3.14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830763"/>
                  </a:ext>
                </a:extLst>
              </a:tr>
              <a:tr h="471949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abs()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Returns the absolute (positive) value of a number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abs(-15)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15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0800084"/>
                  </a:ext>
                </a:extLst>
              </a:tr>
              <a:tr h="471949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max()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Returns the largest item from the inputs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max(4, 9, 2)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619987"/>
                  </a:ext>
                </a:extLst>
              </a:tr>
              <a:tr h="471949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min()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Returns the smallest item from the inputs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min(4, 9, 2)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9581255"/>
                  </a:ext>
                </a:extLst>
              </a:tr>
              <a:tr h="471949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pow()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Raises a base number to an exponent ($x^y$)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pow(2, 3)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0301753"/>
                  </a:ext>
                </a:extLst>
              </a:tr>
              <a:tr h="471949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math.sqrt()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Calculates the square root of a number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math.sqrt(25)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5.0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03902"/>
                  </a:ext>
                </a:extLst>
              </a:tr>
              <a:tr h="471949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math.ceil()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Rounds a decimal </a:t>
                      </a:r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UP</a:t>
                      </a:r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to the nearest integer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math.ceil(4.1)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354632"/>
                  </a:ext>
                </a:extLst>
              </a:tr>
              <a:tr h="471949">
                <a:tc>
                  <a:txBody>
                    <a:bodyPr/>
                    <a:lstStyle/>
                    <a:p>
                      <a:pPr rtl="0"/>
                      <a:r>
                        <a:rPr lang="en-US" sz="14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math.floor()</a:t>
                      </a:r>
                      <a:endParaRPr lang="en-U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Rounds a decimal </a:t>
                      </a:r>
                      <a:r>
                        <a:rPr lang="en-US" sz="14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DOWN</a:t>
                      </a:r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to the nearest integer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math.floor(4.9)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0"/>
                      <a:r>
                        <a:rPr lang="en-US" sz="14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</a:t>
                      </a:r>
                    </a:p>
                  </a:txBody>
                  <a:tcPr marL="38425" marR="38425" marT="25617" marB="25617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839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8177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AEA8CE29-5A6A-4744-85B1-0816E149E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12" y="1206430"/>
            <a:ext cx="7315576" cy="2730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5D13462-CADA-4CD6-A5B5-F15221796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69" y="486407"/>
            <a:ext cx="762747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SA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المطلوب</a:t>
            </a:r>
            <a:r>
              <a:rPr kumimoji="0" lang="en-US" altLang="en-US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بدون تشغيل البرنامج، ما هي النتيجة التي ستظهر على الشاشة إذا أدخل المستخدم العدد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17</a:t>
            </a:r>
            <a:r>
              <a:rPr kumimoji="0" lang="ar-SA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؟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507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4346DB4-05FA-4BAD-B786-9A7065824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934" y="845561"/>
            <a:ext cx="527580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statement is used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 decisions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program.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C8CF736-CFBB-4C4E-94DD-7BA79CB86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765" y="410554"/>
            <a:ext cx="143346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/>
              </a:rPr>
              <a:t>if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Statement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36F0D44-FA70-4DE4-8B2F-911B1FA8F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431" y="1808592"/>
            <a:ext cx="4348174" cy="190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38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F0C7BFB-397D-474C-BC42-4483FC4EE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487" y="1339608"/>
            <a:ext cx="3693195" cy="278204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98632" y="302051"/>
            <a:ext cx="8322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/>
              </a:rPr>
              <a:t>if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else  </a:t>
            </a:r>
            <a:endParaRPr lang="en-US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863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9A6D523-56AD-4648-8F9A-694CE0751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05" y="1398636"/>
            <a:ext cx="3472520" cy="301728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84043" y="387462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Unicode MS"/>
              </a:rPr>
              <a:t>if</a:t>
            </a:r>
            <a:r>
              <a:rPr lang="en-US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elif</a:t>
            </a:r>
            <a:r>
              <a:rPr lang="en-US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else</a:t>
            </a:r>
            <a:endParaRPr lang="en-US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753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655EE4B-4973-4176-8CF9-156506165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4022" y="472202"/>
            <a:ext cx="649568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1) Password Strength Checker (Advanced)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Ask the user to enter a password.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✔ Rules: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password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if: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length ≥ 8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at least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*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contains at least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@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not: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only 1 condition is true →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"Weak"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2 conditions are true →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"Medium"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all false →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"Very Weak"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176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41376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PANNOTATIONSTAG" val="{&quot;version&quot;:&quot;v1.0&quot;,&quot;sessionId&quot;:&quot;7bb84360-2591-49fc-92fd-3ba0709612c8&quot;,&quot;id&quot;:&quot;f50206bf-f8f7-49ea-9801-8938b9370491&quot;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2751</TotalTime>
  <Words>649</Words>
  <Application>Microsoft Office PowerPoint</Application>
  <PresentationFormat>Affichage à l'écran (16:9)</PresentationFormat>
  <Paragraphs>135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22" baseType="lpstr">
      <vt:lpstr>Arial</vt:lpstr>
      <vt:lpstr>Arial Unicode MS</vt:lpstr>
      <vt:lpstr>Calibri</vt:lpstr>
      <vt:lpstr>Calibri Light</vt:lpstr>
      <vt:lpstr>Google Sans Text</vt:lpstr>
      <vt:lpstr>Symbol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pc</dc:creator>
  <cp:lastModifiedBy>BENSLIMANE CH</cp:lastModifiedBy>
  <cp:revision>23</cp:revision>
  <dcterms:modified xsi:type="dcterms:W3CDTF">2026-06-29T12:58:15Z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2026-06-09T18:11:38Z</dcterms:created>
  <dc:creator>Unknown Creator</dc:creator>
  <dc:description/>
  <dc:language>en-US</dc:language>
  <cp:lastModifiedBy>Unknown Creator</cp:lastModifiedBy>
  <dcterms:modified xsi:type="dcterms:W3CDTF">2026-06-09T18:11:38Z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