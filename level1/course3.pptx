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825" r:id="rId1"/>
  </p:sldMasterIdLst>
  <p:notesMasterIdLst>
    <p:notesMasterId r:id="rId16"/>
  </p:notesMasterIdLst>
  <p:sldIdLst>
    <p:sldId id="256" r:id="rId2"/>
    <p:sldId id="279" r:id="rId3"/>
    <p:sldId id="280" r:id="rId4"/>
    <p:sldId id="286" r:id="rId5"/>
    <p:sldId id="281" r:id="rId6"/>
    <p:sldId id="282" r:id="rId7"/>
    <p:sldId id="283" r:id="rId8"/>
    <p:sldId id="297" r:id="rId9"/>
    <p:sldId id="298" r:id="rId10"/>
    <p:sldId id="299" r:id="rId11"/>
    <p:sldId id="294" r:id="rId12"/>
    <p:sldId id="300" r:id="rId13"/>
    <p:sldId id="295" r:id="rId14"/>
    <p:sldId id="296"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1C3C"/>
    <a:srgbClr val="3C7846"/>
    <a:srgbClr val="28296A"/>
    <a:srgbClr val="0B05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6" d="100"/>
          <a:sy n="126" d="100"/>
        </p:scale>
        <p:origin x="12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57FD80-104E-477A-84DF-AAA7C9A1979B}" type="datetimeFigureOut">
              <a:rPr lang="en-ZA" smtClean="0"/>
              <a:t>2026/06/23</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395387-B1C2-442A-BF85-CE86727D2772}" type="slidenum">
              <a:rPr lang="en-ZA" smtClean="0"/>
              <a:t>‹N°›</a:t>
            </a:fld>
            <a:endParaRPr lang="en-ZA"/>
          </a:p>
        </p:txBody>
      </p:sp>
    </p:spTree>
    <p:extLst>
      <p:ext uri="{BB962C8B-B14F-4D97-AF65-F5344CB8AC3E}">
        <p14:creationId xmlns:p14="http://schemas.microsoft.com/office/powerpoint/2010/main" val="1492699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4514F-D43A-A42F-F995-18DDCE5706DE}"/>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ZA"/>
          </a:p>
        </p:txBody>
      </p:sp>
      <p:sp>
        <p:nvSpPr>
          <p:cNvPr id="3" name="Subtitle 2">
            <a:extLst>
              <a:ext uri="{FF2B5EF4-FFF2-40B4-BE49-F238E27FC236}">
                <a16:creationId xmlns:a16="http://schemas.microsoft.com/office/drawing/2014/main" id="{2F436F4F-A1C7-F451-F6C3-A1507AB0D027}"/>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3FC8F2D3-5BB4-C5B7-C4F3-4E551F27B307}"/>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5" name="Footer Placeholder 4">
            <a:extLst>
              <a:ext uri="{FF2B5EF4-FFF2-40B4-BE49-F238E27FC236}">
                <a16:creationId xmlns:a16="http://schemas.microsoft.com/office/drawing/2014/main" id="{871DA541-B7A6-8C7A-8595-068F7747964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C14CCD86-6972-4C04-F108-BD052DD0D62C}"/>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819293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ED6DE-BECF-C841-2293-363F5801CF2A}"/>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8304E547-D5E7-908E-D294-01BE30412A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3043825-EDF6-C1B6-0FA4-B0FF16C0A1D0}"/>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5" name="Footer Placeholder 4">
            <a:extLst>
              <a:ext uri="{FF2B5EF4-FFF2-40B4-BE49-F238E27FC236}">
                <a16:creationId xmlns:a16="http://schemas.microsoft.com/office/drawing/2014/main" id="{5DB4944C-115D-7C85-74A4-38812126225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90E5045-82D0-03FD-49A8-8483FA8FBCBB}"/>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1990074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E3538-AF09-0B60-F393-3DF3406DF4B6}"/>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3CB00258-D7D2-063D-D4AC-47EC9C8F408A}"/>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4CBC68-6842-434F-0CDA-8DD5368697DD}"/>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5" name="Footer Placeholder 4">
            <a:extLst>
              <a:ext uri="{FF2B5EF4-FFF2-40B4-BE49-F238E27FC236}">
                <a16:creationId xmlns:a16="http://schemas.microsoft.com/office/drawing/2014/main" id="{5F166577-1D54-715B-8AE8-C23448D765F2}"/>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80E1C9A-FF65-1394-F64F-AA065144AAFF}"/>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2382329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23D00-61F9-7D05-C411-6B73E06EE9BA}"/>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E9D8DF50-037A-3C15-2C3E-08B916B90FF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2421D7C0-03E8-0DE3-4542-9C53BF651BD0}"/>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9FA7D3AF-8813-6E1F-DA13-61235A24C80B}"/>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6" name="Footer Placeholder 5">
            <a:extLst>
              <a:ext uri="{FF2B5EF4-FFF2-40B4-BE49-F238E27FC236}">
                <a16:creationId xmlns:a16="http://schemas.microsoft.com/office/drawing/2014/main" id="{3EB32F4C-E458-C9B9-FEE0-950555BA8830}"/>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77C386A0-3DDA-1393-25AC-6633772CAAED}"/>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2658583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07730-885C-D7F8-D8AF-7BFFD2DB73FE}"/>
              </a:ext>
            </a:extLst>
          </p:cNvPr>
          <p:cNvSpPr>
            <a:spLocks noGrp="1"/>
          </p:cNvSpPr>
          <p:nvPr>
            <p:ph type="title"/>
          </p:nvPr>
        </p:nvSpPr>
        <p:spPr>
          <a:xfrm>
            <a:off x="629841" y="273844"/>
            <a:ext cx="7886700" cy="994172"/>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EB616968-DB35-9B17-16D7-9E8E179C45A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9763528-11C3-BF1A-650D-55D23FA6C204}"/>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5E83F0D4-6AEE-D2C3-0E17-9EC20ECE807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FD3901C-34E2-FDDE-C04B-8A57A58E00E2}"/>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FAF33B50-4B92-0DCF-E2FC-E678A77452DB}"/>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8" name="Footer Placeholder 7">
            <a:extLst>
              <a:ext uri="{FF2B5EF4-FFF2-40B4-BE49-F238E27FC236}">
                <a16:creationId xmlns:a16="http://schemas.microsoft.com/office/drawing/2014/main" id="{E12F502E-4048-BC09-9EEA-3DD37BD88117}"/>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4B2AFAC6-BC30-CA12-3D0F-5E5B39A8CA84}"/>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4149965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30565-D954-DD51-FC61-7354BF571927}"/>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823D8855-A4E2-0FB6-F3AB-6E6B78D5FD00}"/>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4" name="Footer Placeholder 3">
            <a:extLst>
              <a:ext uri="{FF2B5EF4-FFF2-40B4-BE49-F238E27FC236}">
                <a16:creationId xmlns:a16="http://schemas.microsoft.com/office/drawing/2014/main" id="{690BA00B-F3B4-3A54-0B38-81611AA24B08}"/>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CEA485BC-2DE8-2A65-7AE0-3D1B23F5ECDB}"/>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3833956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B18452-EF96-33BB-7F6E-0DDA165D002A}"/>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3" name="Footer Placeholder 2">
            <a:extLst>
              <a:ext uri="{FF2B5EF4-FFF2-40B4-BE49-F238E27FC236}">
                <a16:creationId xmlns:a16="http://schemas.microsoft.com/office/drawing/2014/main" id="{82F7A3FB-2588-2460-33BD-3829251A64B6}"/>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DB8AB309-BD21-BDD0-56C2-C2B45380925A}"/>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2739964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6FEBD-EFB0-5161-8EF3-1A9BA24BEF3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6A8CA531-4543-FF8B-A654-EDE6D9CA3C58}"/>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911517CA-852A-BF22-AC90-E0AE9FC1C97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B14E24-AF51-C383-CE4B-AE6BA24B3C2B}"/>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6" name="Footer Placeholder 5">
            <a:extLst>
              <a:ext uri="{FF2B5EF4-FFF2-40B4-BE49-F238E27FC236}">
                <a16:creationId xmlns:a16="http://schemas.microsoft.com/office/drawing/2014/main" id="{B47B76C4-7C27-40C1-49F4-B1EE093D809A}"/>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9160C3B-9FE7-1976-47D7-66560038E452}"/>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736222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54D93-C144-23C7-CA6F-873A6CC6069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AA9215AF-1716-570B-4136-CFE06A6FC3C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ZA"/>
          </a:p>
        </p:txBody>
      </p:sp>
      <p:sp>
        <p:nvSpPr>
          <p:cNvPr id="4" name="Text Placeholder 3">
            <a:extLst>
              <a:ext uri="{FF2B5EF4-FFF2-40B4-BE49-F238E27FC236}">
                <a16:creationId xmlns:a16="http://schemas.microsoft.com/office/drawing/2014/main" id="{C260860D-1DC4-1A90-F460-22FC03F6B4BD}"/>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960B7BE-BD4D-D22D-5404-40B409D46906}"/>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6" name="Footer Placeholder 5">
            <a:extLst>
              <a:ext uri="{FF2B5EF4-FFF2-40B4-BE49-F238E27FC236}">
                <a16:creationId xmlns:a16="http://schemas.microsoft.com/office/drawing/2014/main" id="{E80CCFDF-5FAD-472D-B59B-4F5C73EDDE42}"/>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4170FAB-0F52-5E6D-FC32-8B45CCA4F69B}"/>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3763027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23BC2-667F-79D3-E71A-A3B96D660C76}"/>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A6AB11B3-DA3C-0543-E67C-1EC247C40B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598CA22-B69F-103A-904F-45E3E910C777}"/>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5" name="Footer Placeholder 4">
            <a:extLst>
              <a:ext uri="{FF2B5EF4-FFF2-40B4-BE49-F238E27FC236}">
                <a16:creationId xmlns:a16="http://schemas.microsoft.com/office/drawing/2014/main" id="{FA7624D7-40B0-DC4E-C182-4FB2B10F3D3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0FE2B130-8251-A5B5-5693-BCD91E028DE0}"/>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4088598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0596F4-2BD9-11C5-1555-DAEDCBFFF289}"/>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32528060-A750-36DB-C41C-E8512933D2B2}"/>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C06DE29-FDD0-B267-7BC1-07A2264DBF6C}"/>
              </a:ext>
            </a:extLst>
          </p:cNvPr>
          <p:cNvSpPr>
            <a:spLocks noGrp="1"/>
          </p:cNvSpPr>
          <p:nvPr>
            <p:ph type="dt" sz="half" idx="10"/>
          </p:nvPr>
        </p:nvSpPr>
        <p:spPr/>
        <p:txBody>
          <a:bodyPr/>
          <a:lstStyle/>
          <a:p>
            <a:fld id="{8353421B-4862-4D3A-B9AB-BA663EF3CA0D}" type="datetimeFigureOut">
              <a:rPr lang="en-ZA" smtClean="0"/>
              <a:t>2026/06/23</a:t>
            </a:fld>
            <a:endParaRPr lang="en-ZA"/>
          </a:p>
        </p:txBody>
      </p:sp>
      <p:sp>
        <p:nvSpPr>
          <p:cNvPr id="5" name="Footer Placeholder 4">
            <a:extLst>
              <a:ext uri="{FF2B5EF4-FFF2-40B4-BE49-F238E27FC236}">
                <a16:creationId xmlns:a16="http://schemas.microsoft.com/office/drawing/2014/main" id="{4B77CE0C-4578-5368-B11B-6AB263C1A7F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8C645D4-8321-BC8B-15AD-5C930D1F43FD}"/>
              </a:ext>
            </a:extLst>
          </p:cNvPr>
          <p:cNvSpPr>
            <a:spLocks noGrp="1"/>
          </p:cNvSpPr>
          <p:nvPr>
            <p:ph type="sldNum" sz="quarter" idx="12"/>
          </p:nvPr>
        </p:nvSpPr>
        <p:spPr/>
        <p:txBody>
          <a:bodyPr/>
          <a:lstStyle/>
          <a:p>
            <a:fld id="{16397361-9586-496E-9D0C-05473371388D}" type="slidenum">
              <a:rPr lang="en-ZA" smtClean="0"/>
              <a:t>‹N°›</a:t>
            </a:fld>
            <a:endParaRPr lang="en-ZA"/>
          </a:p>
        </p:txBody>
      </p:sp>
    </p:spTree>
    <p:extLst>
      <p:ext uri="{BB962C8B-B14F-4D97-AF65-F5344CB8AC3E}">
        <p14:creationId xmlns:p14="http://schemas.microsoft.com/office/powerpoint/2010/main" val="7230847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2189880" y="2574000"/>
            <a:ext cx="4493520" cy="1495800"/>
          </a:xfrm>
          <a:prstGeom prst="rect">
            <a:avLst/>
          </a:prstGeom>
          <a:noFill/>
          <a:ln w="0">
            <a:noFill/>
          </a:ln>
          <a:effectLst>
            <a:outerShdw blurRad="57240" dist="19080" dir="5400000" rotWithShape="0">
              <a:srgbClr val="000000">
                <a:alpha val="50000"/>
              </a:srgbClr>
            </a:outerShdw>
          </a:effectLst>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extLst>
      <p:ext uri="{BB962C8B-B14F-4D97-AF65-F5344CB8AC3E}">
        <p14:creationId xmlns:p14="http://schemas.microsoft.com/office/powerpoint/2010/main" val="2942035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33860E-B5F2-D006-098F-5A530B6F0D82}"/>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F82BB4DC-DF4C-F411-CE4C-83FFF29CF72A}"/>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E772BCA-DAAD-FDF6-DB26-BFA1C8064947}"/>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8353421B-4862-4D3A-B9AB-BA663EF3CA0D}" type="datetimeFigureOut">
              <a:rPr lang="en-ZA" smtClean="0"/>
              <a:t>2026/06/23</a:t>
            </a:fld>
            <a:endParaRPr lang="en-ZA"/>
          </a:p>
        </p:txBody>
      </p:sp>
      <p:sp>
        <p:nvSpPr>
          <p:cNvPr id="5" name="Footer Placeholder 4">
            <a:extLst>
              <a:ext uri="{FF2B5EF4-FFF2-40B4-BE49-F238E27FC236}">
                <a16:creationId xmlns:a16="http://schemas.microsoft.com/office/drawing/2014/main" id="{F6735681-8A91-D98D-3E29-2C45B39983A3}"/>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ZA"/>
          </a:p>
        </p:txBody>
      </p:sp>
      <p:sp>
        <p:nvSpPr>
          <p:cNvPr id="6" name="Slide Number Placeholder 5">
            <a:extLst>
              <a:ext uri="{FF2B5EF4-FFF2-40B4-BE49-F238E27FC236}">
                <a16:creationId xmlns:a16="http://schemas.microsoft.com/office/drawing/2014/main" id="{BEE9544A-EECF-EBAD-93C7-517233F0178E}"/>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16397361-9586-496E-9D0C-05473371388D}" type="slidenum">
              <a:rPr lang="en-ZA" smtClean="0"/>
              <a:t>‹N°›</a:t>
            </a:fld>
            <a:endParaRPr lang="en-ZA"/>
          </a:p>
        </p:txBody>
      </p:sp>
    </p:spTree>
    <p:extLst>
      <p:ext uri="{BB962C8B-B14F-4D97-AF65-F5344CB8AC3E}">
        <p14:creationId xmlns:p14="http://schemas.microsoft.com/office/powerpoint/2010/main" val="1928126353"/>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str.pdf"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Generated image: Python programming course cover design">
            <a:extLst>
              <a:ext uri="{FF2B5EF4-FFF2-40B4-BE49-F238E27FC236}">
                <a16:creationId xmlns:a16="http://schemas.microsoft.com/office/drawing/2014/main" id="{AAACFFB3-435A-D176-4314-2BD5401AD6CF}"/>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dirty="0"/>
          </a:p>
        </p:txBody>
      </p:sp>
      <p:pic>
        <p:nvPicPr>
          <p:cNvPr id="4" name="Picture 3">
            <a:extLst>
              <a:ext uri="{FF2B5EF4-FFF2-40B4-BE49-F238E27FC236}">
                <a16:creationId xmlns:a16="http://schemas.microsoft.com/office/drawing/2014/main" id="{1DC2ABBC-EDAF-BC7E-4C08-81CF758A5285}"/>
              </a:ext>
            </a:extLst>
          </p:cNvPr>
          <p:cNvPicPr>
            <a:picLocks noChangeAspect="1"/>
          </p:cNvPicPr>
          <p:nvPr/>
        </p:nvPicPr>
        <p:blipFill>
          <a:blip r:embed="rId2"/>
          <a:srcRect b="16322"/>
          <a:stretch>
            <a:fillRect/>
          </a:stretch>
        </p:blipFill>
        <p:spPr>
          <a:xfrm>
            <a:off x="1" y="0"/>
            <a:ext cx="9144000" cy="50480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BDF832BB-4806-4D0D-93D0-C7C5BD433DBD}"/>
              </a:ext>
            </a:extLst>
          </p:cNvPr>
          <p:cNvPicPr>
            <a:picLocks noChangeAspect="1"/>
          </p:cNvPicPr>
          <p:nvPr/>
        </p:nvPicPr>
        <p:blipFill>
          <a:blip r:embed="rId2"/>
          <a:stretch>
            <a:fillRect/>
          </a:stretch>
        </p:blipFill>
        <p:spPr>
          <a:xfrm>
            <a:off x="-258417" y="-201992"/>
            <a:ext cx="9660834" cy="5547484"/>
          </a:xfrm>
          <a:prstGeom prst="rect">
            <a:avLst/>
          </a:prstGeom>
        </p:spPr>
      </p:pic>
    </p:spTree>
    <p:extLst>
      <p:ext uri="{BB962C8B-B14F-4D97-AF65-F5344CB8AC3E}">
        <p14:creationId xmlns:p14="http://schemas.microsoft.com/office/powerpoint/2010/main" val="4044890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10847348-B6B9-4D1B-AA17-382E99280F6E}"/>
              </a:ext>
            </a:extLst>
          </p:cNvPr>
          <p:cNvPicPr>
            <a:picLocks noChangeAspect="1"/>
          </p:cNvPicPr>
          <p:nvPr/>
        </p:nvPicPr>
        <p:blipFill>
          <a:blip r:embed="rId2"/>
          <a:stretch>
            <a:fillRect/>
          </a:stretch>
        </p:blipFill>
        <p:spPr>
          <a:xfrm>
            <a:off x="302915" y="1047166"/>
            <a:ext cx="4433255" cy="2726630"/>
          </a:xfrm>
          <a:prstGeom prst="rect">
            <a:avLst/>
          </a:prstGeom>
          <a:ln>
            <a:noFill/>
          </a:ln>
          <a:effectLst>
            <a:outerShdw blurRad="292100" dist="139700" dir="2700000" algn="tl" rotWithShape="0">
              <a:srgbClr val="333333">
                <a:alpha val="65000"/>
              </a:srgbClr>
            </a:outerShdw>
          </a:effectLst>
        </p:spPr>
      </p:pic>
      <p:sp>
        <p:nvSpPr>
          <p:cNvPr id="3" name="Rectangle 1">
            <a:extLst>
              <a:ext uri="{FF2B5EF4-FFF2-40B4-BE49-F238E27FC236}">
                <a16:creationId xmlns:a16="http://schemas.microsoft.com/office/drawing/2014/main" id="{514D38F6-2444-411D-98D0-B892B6A65966}"/>
              </a:ext>
            </a:extLst>
          </p:cNvPr>
          <p:cNvSpPr>
            <a:spLocks noChangeArrowheads="1"/>
          </p:cNvSpPr>
          <p:nvPr/>
        </p:nvSpPr>
        <p:spPr bwMode="auto">
          <a:xfrm>
            <a:off x="4865012" y="1256319"/>
            <a:ext cx="415269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a:ln>
                  <a:noFill/>
                </a:ln>
                <a:solidFill>
                  <a:schemeClr val="tx1"/>
                </a:solidFill>
                <a:effectLst/>
                <a:latin typeface="Arial" panose="020B0604020202020204" pitchFamily="34" charset="0"/>
              </a:rPr>
              <a:t>What is the final value of </a:t>
            </a:r>
            <a:r>
              <a:rPr kumimoji="0" lang="en-US" altLang="en-US" sz="1600" b="1" i="0" u="none" strike="noStrike" cap="none" normalizeH="0" baseline="0">
                <a:ln>
                  <a:noFill/>
                </a:ln>
                <a:solidFill>
                  <a:schemeClr val="tx1"/>
                </a:solidFill>
                <a:effectLst/>
                <a:latin typeface="Arial Unicode MS"/>
              </a:rPr>
              <a:t>total</a:t>
            </a:r>
            <a:r>
              <a:rPr kumimoji="0" lang="en-US" altLang="en-US" sz="1600" b="1" i="0" u="none" strike="noStrike" cap="none" normalizeH="0" baseline="0">
                <a:ln>
                  <a:noFill/>
                </a:ln>
                <a:solidFill>
                  <a:schemeClr val="tx1"/>
                </a:solidFill>
                <a:effectLst/>
              </a:rPr>
              <a:t>?</a:t>
            </a:r>
            <a:r>
              <a:rPr kumimoji="0" lang="en-US" altLang="en-US" sz="1600" b="0" i="0" u="none" strike="noStrike" cap="none" normalizeH="0" baseline="0">
                <a:ln>
                  <a:noFill/>
                </a:ln>
                <a:solidFill>
                  <a:schemeClr val="tx1"/>
                </a:solidFill>
                <a:effectLst/>
                <a:latin typeface="Arial" panose="020B0604020202020204" pitchFamily="34" charset="0"/>
              </a:rPr>
              <a:t> Is it calculated using </a:t>
            </a:r>
            <a:r>
              <a:rPr kumimoji="0" lang="en-US" altLang="en-US" sz="1600" b="0" i="0" u="none" strike="noStrike" cap="none" normalizeH="0" baseline="0">
                <a:ln>
                  <a:noFill/>
                </a:ln>
                <a:solidFill>
                  <a:schemeClr val="tx1"/>
                </a:solidFill>
                <a:effectLst/>
                <a:latin typeface="Arial Unicode MS"/>
              </a:rPr>
              <a:t>base_price = 50</a:t>
            </a:r>
            <a:r>
              <a:rPr kumimoji="0" lang="en-US" altLang="en-US" sz="1600" b="0" i="0" u="none" strike="noStrike" cap="none" normalizeH="0" baseline="0">
                <a:ln>
                  <a:noFill/>
                </a:ln>
                <a:solidFill>
                  <a:schemeClr val="tx1"/>
                </a:solidFill>
                <a:effectLst/>
              </a:rPr>
              <a:t> or </a:t>
            </a:r>
            <a:r>
              <a:rPr kumimoji="0" lang="en-US" altLang="en-US" sz="1600" b="0" i="0" u="none" strike="noStrike" cap="none" normalizeH="0" baseline="0">
                <a:ln>
                  <a:noFill/>
                </a:ln>
                <a:solidFill>
                  <a:schemeClr val="tx1"/>
                </a:solidFill>
                <a:effectLst/>
                <a:latin typeface="Arial Unicode MS"/>
              </a:rPr>
              <a:t>base_price = 40</a:t>
            </a:r>
            <a:r>
              <a:rPr kumimoji="0" lang="en-US" altLang="en-US" sz="1600" b="0" i="0" u="none" strike="noStrike" cap="none" normalizeH="0" baseline="0">
                <a:ln>
                  <a:noFill/>
                </a:ln>
                <a:solidFill>
                  <a:schemeClr val="tx1"/>
                </a:solidFill>
                <a:effectLst/>
              </a:rPr>
              <a:t>?</a:t>
            </a: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a:ln>
                  <a:noFill/>
                </a:ln>
                <a:solidFill>
                  <a:schemeClr val="tx1"/>
                </a:solidFill>
                <a:effectLst/>
                <a:latin typeface="Arial" panose="020B0604020202020204" pitchFamily="34" charset="0"/>
              </a:rPr>
              <a:t>What is the exact data type of </a:t>
            </a:r>
            <a:r>
              <a:rPr kumimoji="0" lang="en-US" altLang="en-US" sz="1600" b="1" i="0" u="none" strike="noStrike" cap="none" normalizeH="0" baseline="0">
                <a:ln>
                  <a:noFill/>
                </a:ln>
                <a:solidFill>
                  <a:schemeClr val="tx1"/>
                </a:solidFill>
                <a:effectLst/>
                <a:latin typeface="Arial Unicode MS"/>
              </a:rPr>
              <a:t>total</a:t>
            </a:r>
            <a:r>
              <a:rPr kumimoji="0" lang="en-US" altLang="en-US" sz="1600" b="1" i="0" u="none" strike="noStrike" cap="none" normalizeH="0" baseline="0">
                <a:ln>
                  <a:noFill/>
                </a:ln>
                <a:solidFill>
                  <a:schemeClr val="tx1"/>
                </a:solidFill>
                <a:effectLst/>
              </a:rPr>
              <a:t>?</a:t>
            </a:r>
            <a:r>
              <a:rPr kumimoji="0" lang="en-US" altLang="en-US" sz="1600" b="0" i="0" u="none" strike="noStrike" cap="none" normalizeH="0" baseline="0">
                <a:ln>
                  <a:noFill/>
                </a:ln>
                <a:solidFill>
                  <a:schemeClr val="tx1"/>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Unicode MS"/>
              </a:rPr>
              <a:t>int</a:t>
            </a:r>
            <a:r>
              <a:rPr kumimoji="0" lang="en-US" altLang="en-US" sz="1600" b="0" i="0" u="none" strike="noStrike" cap="none" normalizeH="0" baseline="0">
                <a:ln>
                  <a:noFill/>
                </a:ln>
                <a:solidFill>
                  <a:schemeClr val="tx1"/>
                </a:solidFill>
                <a:effectLst/>
              </a:rPr>
              <a:t>, </a:t>
            </a:r>
            <a:r>
              <a:rPr kumimoji="0" lang="en-US" altLang="en-US" sz="1600" b="0" i="0" u="none" strike="noStrike" cap="none" normalizeH="0" baseline="0">
                <a:ln>
                  <a:noFill/>
                </a:ln>
                <a:solidFill>
                  <a:schemeClr val="tx1"/>
                </a:solidFill>
                <a:effectLst/>
                <a:latin typeface="Arial Unicode MS"/>
              </a:rPr>
              <a:t>float</a:t>
            </a:r>
            <a:r>
              <a:rPr kumimoji="0" lang="en-US" altLang="en-US" sz="1600" b="0" i="0" u="none" strike="noStrike" cap="none" normalizeH="0" baseline="0">
                <a:ln>
                  <a:noFill/>
                </a:ln>
                <a:solidFill>
                  <a:schemeClr val="tx1"/>
                </a:solidFill>
                <a:effectLst/>
              </a:rPr>
              <a:t>, or </a:t>
            </a:r>
            <a:r>
              <a:rPr kumimoji="0" lang="en-US" altLang="en-US" sz="1600" b="0" i="0" u="none" strike="noStrike" cap="none" normalizeH="0" baseline="0">
                <a:ln>
                  <a:noFill/>
                </a:ln>
                <a:solidFill>
                  <a:schemeClr val="tx1"/>
                </a:solidFill>
                <a:effectLst/>
                <a:latin typeface="Arial Unicode MS"/>
              </a:rPr>
              <a:t>str</a:t>
            </a:r>
            <a:r>
              <a:rPr kumimoji="0" lang="en-US" altLang="en-US" sz="1600" b="0" i="0" u="none" strike="noStrike" cap="none" normalizeH="0" baseline="0">
                <a:ln>
                  <a:noFill/>
                </a:ln>
                <a:solidFill>
                  <a:schemeClr val="tx1"/>
                </a:solidFill>
                <a:effectLst/>
              </a:rPr>
              <a:t>)?</a:t>
            </a: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a:ln>
                  <a:noFill/>
                </a:ln>
                <a:solidFill>
                  <a:schemeClr val="tx1"/>
                </a:solidFill>
                <a:effectLst/>
                <a:latin typeface="Arial" panose="020B0604020202020204" pitchFamily="34" charset="0"/>
              </a:rPr>
              <a:t>What is the exact value of </a:t>
            </a:r>
            <a:r>
              <a:rPr kumimoji="0" lang="en-US" altLang="en-US" sz="1600" b="1" i="0" u="none" strike="noStrike" cap="none" normalizeH="0" baseline="0">
                <a:ln>
                  <a:noFill/>
                </a:ln>
                <a:solidFill>
                  <a:schemeClr val="tx1"/>
                </a:solidFill>
                <a:effectLst/>
                <a:latin typeface="Arial Unicode MS"/>
              </a:rPr>
              <a:t>change</a:t>
            </a:r>
            <a:r>
              <a:rPr kumimoji="0" lang="en-US" altLang="en-US" sz="1600" b="1" i="0" u="none" strike="noStrike" cap="none" normalizeH="0" baseline="0">
                <a:ln>
                  <a:noFill/>
                </a:ln>
                <a:solidFill>
                  <a:schemeClr val="tx1"/>
                </a:solidFill>
                <a:effectLst/>
              </a:rPr>
              <a:t>?</a:t>
            </a:r>
            <a:endParaRPr kumimoji="0" lang="en-US" altLang="en-US"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a:ln>
                  <a:noFill/>
                </a:ln>
                <a:solidFill>
                  <a:schemeClr val="tx1"/>
                </a:solidFill>
                <a:effectLst/>
                <a:latin typeface="Arial" panose="020B0604020202020204" pitchFamily="34" charset="0"/>
              </a:rPr>
              <a:t>If we try to run this line next: </a:t>
            </a:r>
            <a:r>
              <a:rPr kumimoji="0" lang="en-US" altLang="en-US" sz="1600" b="1" i="0" u="none" strike="noStrike" cap="none" normalizeH="0" baseline="0">
                <a:ln>
                  <a:noFill/>
                </a:ln>
                <a:solidFill>
                  <a:schemeClr val="tx1"/>
                </a:solidFill>
                <a:effectLst/>
                <a:latin typeface="Arial Unicode MS"/>
              </a:rPr>
              <a:t>print(receipt_message + total)</a:t>
            </a:r>
            <a:r>
              <a:rPr kumimoji="0" lang="en-US" altLang="en-US" sz="1600" b="1" i="0" u="none" strike="noStrike" cap="none" normalizeH="0" baseline="0">
                <a:ln>
                  <a:noFill/>
                </a:ln>
                <a:solidFill>
                  <a:schemeClr val="tx1"/>
                </a:solidFill>
                <a:effectLst/>
              </a:rPr>
              <a:t>, what will happen?</a:t>
            </a:r>
            <a:endParaRPr kumimoji="0" lang="en-US" altLang="en-US"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6285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10847348-B6B9-4D1B-AA17-382E99280F6E}"/>
              </a:ext>
            </a:extLst>
          </p:cNvPr>
          <p:cNvPicPr>
            <a:picLocks noChangeAspect="1"/>
          </p:cNvPicPr>
          <p:nvPr/>
        </p:nvPicPr>
        <p:blipFill>
          <a:blip r:embed="rId2"/>
          <a:stretch>
            <a:fillRect/>
          </a:stretch>
        </p:blipFill>
        <p:spPr>
          <a:xfrm>
            <a:off x="757689" y="225795"/>
            <a:ext cx="7628621" cy="469190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69514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Python: String – Study Machine Learning">
            <a:extLst>
              <a:ext uri="{FF2B5EF4-FFF2-40B4-BE49-F238E27FC236}">
                <a16:creationId xmlns:a16="http://schemas.microsoft.com/office/drawing/2014/main" id="{BB060302-2D1C-4BD8-B702-51DD70A55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887" y="2153922"/>
            <a:ext cx="6684609" cy="2049947"/>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CB32E6F0-5E11-4ECE-8094-7B8286EE0CDF}"/>
              </a:ext>
            </a:extLst>
          </p:cNvPr>
          <p:cNvSpPr txBox="1"/>
          <p:nvPr/>
        </p:nvSpPr>
        <p:spPr>
          <a:xfrm>
            <a:off x="492770" y="307497"/>
            <a:ext cx="1611567"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String </a:t>
            </a:r>
          </a:p>
        </p:txBody>
      </p:sp>
      <p:sp>
        <p:nvSpPr>
          <p:cNvPr id="3" name="Rectangle 2">
            <a:extLst>
              <a:ext uri="{FF2B5EF4-FFF2-40B4-BE49-F238E27FC236}">
                <a16:creationId xmlns:a16="http://schemas.microsoft.com/office/drawing/2014/main" id="{691030CC-F762-4AC0-AF47-F2C1217EBC72}"/>
              </a:ext>
            </a:extLst>
          </p:cNvPr>
          <p:cNvSpPr/>
          <p:nvPr/>
        </p:nvSpPr>
        <p:spPr>
          <a:xfrm>
            <a:off x="636544" y="769162"/>
            <a:ext cx="6512943" cy="923330"/>
          </a:xfrm>
          <a:prstGeom prst="rect">
            <a:avLst/>
          </a:prstGeom>
        </p:spPr>
        <p:txBody>
          <a:bodyPr wrap="square">
            <a:spAutoFit/>
          </a:bodyPr>
          <a:lstStyle/>
          <a:p>
            <a:r>
              <a:rPr lang="en-US" dirty="0"/>
              <a:t>A string is a built-in data type used to represent </a:t>
            </a:r>
            <a:r>
              <a:rPr lang="en-US" b="1" dirty="0"/>
              <a:t>textual data</a:t>
            </a:r>
            <a:r>
              <a:rPr lang="en-US" dirty="0"/>
              <a:t>. It is essentially a sequence of characters (letters, numbers, symbols, or spaces) wrapped inside quotation marks.</a:t>
            </a:r>
          </a:p>
        </p:txBody>
      </p:sp>
    </p:spTree>
    <p:extLst>
      <p:ext uri="{BB962C8B-B14F-4D97-AF65-F5344CB8AC3E}">
        <p14:creationId xmlns:p14="http://schemas.microsoft.com/office/powerpoint/2010/main" val="4121681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9C86588A-24E3-4A6B-AF8C-FF848AB296F4}"/>
              </a:ext>
            </a:extLst>
          </p:cNvPr>
          <p:cNvPicPr>
            <a:picLocks noChangeAspect="1"/>
          </p:cNvPicPr>
          <p:nvPr/>
        </p:nvPicPr>
        <p:blipFill>
          <a:blip r:embed="rId2"/>
          <a:stretch>
            <a:fillRect/>
          </a:stretch>
        </p:blipFill>
        <p:spPr>
          <a:xfrm>
            <a:off x="0" y="0"/>
            <a:ext cx="9144000" cy="5143500"/>
          </a:xfrm>
          <a:prstGeom prst="rect">
            <a:avLst/>
          </a:prstGeom>
        </p:spPr>
      </p:pic>
      <p:sp>
        <p:nvSpPr>
          <p:cNvPr id="8" name="ZoneTexte 7">
            <a:extLst>
              <a:ext uri="{FF2B5EF4-FFF2-40B4-BE49-F238E27FC236}">
                <a16:creationId xmlns:a16="http://schemas.microsoft.com/office/drawing/2014/main" id="{E89E96B4-359A-4276-91E6-5C5763FA7D42}"/>
              </a:ext>
            </a:extLst>
          </p:cNvPr>
          <p:cNvSpPr txBox="1"/>
          <p:nvPr/>
        </p:nvSpPr>
        <p:spPr>
          <a:xfrm>
            <a:off x="3447200" y="2378452"/>
            <a:ext cx="2500131" cy="1631216"/>
          </a:xfrm>
          <a:prstGeom prst="rect">
            <a:avLst/>
          </a:prstGeom>
          <a:solidFill>
            <a:srgbClr val="051C3C"/>
          </a:solidFill>
          <a:ln>
            <a:solidFill>
              <a:srgbClr val="28296A"/>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3200" dirty="0">
                <a:solidFill>
                  <a:schemeClr val="bg1"/>
                </a:solidFill>
              </a:rPr>
              <a:t>For more </a:t>
            </a:r>
            <a:r>
              <a:rPr lang="en-US" sz="3200" dirty="0">
                <a:solidFill>
                  <a:schemeClr val="bg1"/>
                </a:solidFill>
                <a:hlinkClick r:id="rId3" action="ppaction://hlinkfile"/>
              </a:rPr>
              <a:t>details</a:t>
            </a:r>
            <a:r>
              <a:rPr lang="en-US" sz="3200" dirty="0">
                <a:solidFill>
                  <a:schemeClr val="bg1"/>
                </a:solidFill>
              </a:rPr>
              <a:t> </a:t>
            </a:r>
            <a:r>
              <a:rPr lang="en-US" sz="3600" dirty="0">
                <a:solidFill>
                  <a:schemeClr val="bg1"/>
                </a:solidFill>
              </a:rPr>
              <a:t>click</a:t>
            </a:r>
            <a:r>
              <a:rPr lang="en-US" sz="3200" dirty="0">
                <a:solidFill>
                  <a:schemeClr val="bg1"/>
                </a:solidFill>
              </a:rPr>
              <a:t> here</a:t>
            </a:r>
          </a:p>
        </p:txBody>
      </p:sp>
      <p:cxnSp>
        <p:nvCxnSpPr>
          <p:cNvPr id="10" name="Connecteur droit avec flèche 9">
            <a:extLst>
              <a:ext uri="{FF2B5EF4-FFF2-40B4-BE49-F238E27FC236}">
                <a16:creationId xmlns:a16="http://schemas.microsoft.com/office/drawing/2014/main" id="{D74F44C9-F469-432F-BD70-9598CDEE43E6}"/>
              </a:ext>
            </a:extLst>
          </p:cNvPr>
          <p:cNvCxnSpPr>
            <a:cxnSpLocks/>
          </p:cNvCxnSpPr>
          <p:nvPr/>
        </p:nvCxnSpPr>
        <p:spPr>
          <a:xfrm flipH="1" flipV="1">
            <a:off x="4774557" y="3374020"/>
            <a:ext cx="781292" cy="482666"/>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115379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3B426EF-9209-4CCE-82AC-631F3A6FC2A9}"/>
              </a:ext>
            </a:extLst>
          </p:cNvPr>
          <p:cNvSpPr/>
          <p:nvPr/>
        </p:nvSpPr>
        <p:spPr>
          <a:xfrm>
            <a:off x="393539" y="489233"/>
            <a:ext cx="8461094" cy="4401205"/>
          </a:xfrm>
          <a:prstGeom prst="rect">
            <a:avLst/>
          </a:prstGeom>
          <a:ln>
            <a:noFill/>
          </a:ln>
          <a:effectLst>
            <a:outerShdw blurRad="50800" dist="38100" dir="5400000" algn="t" rotWithShape="0">
              <a:prstClr val="black">
                <a:alpha val="40000"/>
              </a:prstClr>
            </a:outerShdw>
          </a:effectLst>
          <a:scene3d>
            <a:camera prst="orthographicFront">
              <a:rot lat="0" lon="0" rev="0"/>
            </a:camera>
            <a:lightRig rig="glow" dir="t">
              <a:rot lat="0" lon="0" rev="4800000"/>
            </a:lightRig>
          </a:scene3d>
          <a:sp3d prstMaterial="matte">
            <a:bevelT w="127000" h="63500"/>
          </a:sp3d>
        </p:spPr>
        <p:style>
          <a:lnRef idx="2">
            <a:schemeClr val="accent4"/>
          </a:lnRef>
          <a:fillRef idx="1">
            <a:schemeClr val="lt1"/>
          </a:fillRef>
          <a:effectRef idx="0">
            <a:schemeClr val="accent4"/>
          </a:effectRef>
          <a:fontRef idx="minor">
            <a:schemeClr val="dk1"/>
          </a:fontRef>
        </p:style>
        <p:txBody>
          <a:bodyPr wrap="square">
            <a:spAutoFit/>
          </a:bodyPr>
          <a:lstStyle/>
          <a:p>
            <a:pPr marL="342900" lvl="0" indent="-342900" algn="r" rtl="1" eaLnBrk="0" fontAlgn="base" hangingPunct="0">
              <a:spcBef>
                <a:spcPct val="0"/>
              </a:spcBef>
              <a:spcAft>
                <a:spcPct val="0"/>
              </a:spcAft>
              <a:buAutoNum type="arabicPeriod"/>
            </a:pPr>
            <a:r>
              <a:rPr lang="ar-SA" altLang="en-US" sz="1400" dirty="0">
                <a:latin typeface="Google Sans Flex"/>
              </a:rPr>
              <a:t>ما هي نتيجة تنفيذ الكود التالي؟</a:t>
            </a:r>
            <a:endParaRPr lang="en-US" altLang="en-US" sz="1400" dirty="0">
              <a:latin typeface="Google Sans Flex"/>
            </a:endParaRPr>
          </a:p>
          <a:p>
            <a:pPr algn="ctr" rtl="1" eaLnBrk="0" fontAlgn="base" hangingPunct="0">
              <a:spcBef>
                <a:spcPct val="0"/>
              </a:spcBef>
              <a:spcAft>
                <a:spcPct val="0"/>
              </a:spcAft>
            </a:pPr>
            <a:r>
              <a:rPr lang="en-US" altLang="en-US" sz="1600" b="1" dirty="0">
                <a:solidFill>
                  <a:srgbClr val="3C7846"/>
                </a:solidFill>
                <a:latin typeface="Arial Unicode MS"/>
                <a:cs typeface="Arial" panose="020B0604020202020204" pitchFamily="34" charset="0"/>
              </a:rPr>
              <a:t>print("</a:t>
            </a:r>
            <a:r>
              <a:rPr lang="en-US" altLang="en-US" sz="1600" b="1" dirty="0" err="1">
                <a:solidFill>
                  <a:srgbClr val="3C7846"/>
                </a:solidFill>
                <a:latin typeface="Arial Unicode MS"/>
                <a:cs typeface="Arial" panose="020B0604020202020204" pitchFamily="34" charset="0"/>
              </a:rPr>
              <a:t>python".upper</a:t>
            </a:r>
            <a:r>
              <a:rPr lang="en-US" altLang="en-US" sz="1600" b="1" dirty="0">
                <a:solidFill>
                  <a:srgbClr val="3C7846"/>
                </a:solidFill>
                <a:latin typeface="Arial Unicode MS"/>
                <a:cs typeface="Arial" panose="020B0604020202020204" pitchFamily="34" charset="0"/>
              </a:rPr>
              <a:t>())</a:t>
            </a:r>
          </a:p>
          <a:p>
            <a:pPr lvl="0" algn="ctr" rtl="1" eaLnBrk="0" fontAlgn="base" hangingPunct="0">
              <a:spcBef>
                <a:spcPct val="0"/>
              </a:spcBef>
              <a:spcAft>
                <a:spcPct val="0"/>
              </a:spcAft>
            </a:pPr>
            <a:endParaRPr lang="en-US" altLang="en-US" sz="1400" dirty="0">
              <a:latin typeface="Arial Unicode MS"/>
              <a:cs typeface="Arial" panose="020B0604020202020204" pitchFamily="34" charset="0"/>
            </a:endParaRPr>
          </a:p>
          <a:p>
            <a:pPr marL="342900" lvl="0" indent="-342900" algn="r" rtl="1" eaLnBrk="0" fontAlgn="base" hangingPunct="0">
              <a:spcBef>
                <a:spcPct val="0"/>
              </a:spcBef>
              <a:spcAft>
                <a:spcPct val="0"/>
              </a:spcAft>
              <a:buFont typeface="+mj-lt"/>
              <a:buAutoNum type="arabicPeriod" startAt="2"/>
            </a:pPr>
            <a:r>
              <a:rPr lang="ar-SA" altLang="en-US" sz="1400" dirty="0">
                <a:latin typeface="Arial" panose="020B0604020202020204" pitchFamily="34" charset="0"/>
              </a:rPr>
              <a:t>ما هي الدالة التي تعيد القيمة </a:t>
            </a:r>
            <a:r>
              <a:rPr lang="en-US" altLang="en-US" sz="1400" dirty="0">
                <a:latin typeface="Arial" panose="020B0604020202020204" pitchFamily="34" charset="0"/>
              </a:rPr>
              <a:t>True </a:t>
            </a:r>
            <a:r>
              <a:rPr lang="ar-SA" altLang="en-US" sz="1400" dirty="0">
                <a:latin typeface="Arial" panose="020B0604020202020204" pitchFamily="34" charset="0"/>
              </a:rPr>
              <a:t>إذا كان النص يتكون من حروف وأرقام معاً فقط دون أي مسافات أو رموز؟</a:t>
            </a:r>
            <a:r>
              <a:rPr lang="en-US" altLang="en-US" sz="1400" dirty="0">
                <a:latin typeface="Arial" panose="020B0604020202020204" pitchFamily="34" charset="0"/>
              </a:rPr>
              <a:t> </a:t>
            </a:r>
            <a:r>
              <a:rPr lang="ar-SA" altLang="en-US" sz="1400" dirty="0">
                <a:latin typeface="Arial" panose="020B0604020202020204" pitchFamily="34" charset="0"/>
              </a:rPr>
              <a:t> </a:t>
            </a:r>
            <a:endParaRPr lang="en-US" altLang="en-US" sz="1400" dirty="0">
              <a:latin typeface="Arial" panose="020B0604020202020204" pitchFamily="34" charset="0"/>
            </a:endParaRPr>
          </a:p>
          <a:p>
            <a:pPr lvl="0" algn="ctr" eaLnBrk="0" fontAlgn="base" hangingPunct="0">
              <a:spcBef>
                <a:spcPct val="0"/>
              </a:spcBef>
              <a:spcAft>
                <a:spcPct val="0"/>
              </a:spcAft>
            </a:pPr>
            <a:r>
              <a:rPr lang="en-US" altLang="en-US" sz="1400" dirty="0">
                <a:latin typeface="Arial" panose="020B0604020202020204" pitchFamily="34" charset="0"/>
              </a:rPr>
              <a:t> a/ </a:t>
            </a:r>
            <a:r>
              <a:rPr lang="en-US" altLang="en-US" sz="1400" dirty="0" err="1">
                <a:latin typeface="Arial" panose="020B0604020202020204" pitchFamily="34" charset="0"/>
              </a:rPr>
              <a:t>isalpha</a:t>
            </a:r>
            <a:r>
              <a:rPr lang="en-US" altLang="en-US" sz="1400" dirty="0">
                <a:latin typeface="Arial" panose="020B0604020202020204" pitchFamily="34" charset="0"/>
              </a:rPr>
              <a:t>() </a:t>
            </a:r>
          </a:p>
          <a:p>
            <a:pPr lvl="0" algn="ctr" eaLnBrk="0" fontAlgn="base" hangingPunct="0">
              <a:spcBef>
                <a:spcPct val="0"/>
              </a:spcBef>
              <a:spcAft>
                <a:spcPct val="0"/>
              </a:spcAft>
            </a:pPr>
            <a:r>
              <a:rPr lang="ar-SA" altLang="en-US" sz="1400" dirty="0">
                <a:latin typeface="Arial" panose="020B0604020202020204" pitchFamily="34" charset="0"/>
              </a:rPr>
              <a:t> </a:t>
            </a:r>
            <a:r>
              <a:rPr lang="en-US" altLang="en-US" sz="1400" dirty="0">
                <a:latin typeface="Arial" panose="020B0604020202020204" pitchFamily="34" charset="0"/>
              </a:rPr>
              <a:t>b/ </a:t>
            </a:r>
            <a:r>
              <a:rPr lang="en-US" altLang="en-US" sz="1400" dirty="0" err="1">
                <a:latin typeface="Arial" panose="020B0604020202020204" pitchFamily="34" charset="0"/>
              </a:rPr>
              <a:t>isdigit</a:t>
            </a:r>
            <a:r>
              <a:rPr lang="en-US" altLang="en-US" sz="1400" dirty="0">
                <a:latin typeface="Arial" panose="020B0604020202020204" pitchFamily="34" charset="0"/>
              </a:rPr>
              <a:t>() </a:t>
            </a:r>
          </a:p>
          <a:p>
            <a:pPr lvl="0" algn="ctr" eaLnBrk="0" fontAlgn="base" hangingPunct="0">
              <a:spcBef>
                <a:spcPct val="0"/>
              </a:spcBef>
              <a:spcAft>
                <a:spcPct val="0"/>
              </a:spcAft>
            </a:pPr>
            <a:r>
              <a:rPr lang="ar-SA" altLang="en-US" sz="1400" dirty="0">
                <a:latin typeface="Arial" panose="020B0604020202020204" pitchFamily="34" charset="0"/>
              </a:rPr>
              <a:t> </a:t>
            </a:r>
            <a:r>
              <a:rPr lang="en-US" altLang="en-US" sz="1400" dirty="0">
                <a:latin typeface="Arial" panose="020B0604020202020204" pitchFamily="34" charset="0"/>
              </a:rPr>
              <a:t>c/ </a:t>
            </a:r>
            <a:r>
              <a:rPr lang="en-US" altLang="en-US" sz="1400" dirty="0" err="1">
                <a:latin typeface="Arial" panose="020B0604020202020204" pitchFamily="34" charset="0"/>
              </a:rPr>
              <a:t>isalnum</a:t>
            </a:r>
            <a:r>
              <a:rPr lang="en-US" altLang="en-US" sz="1400" dirty="0">
                <a:latin typeface="Arial" panose="020B0604020202020204" pitchFamily="34" charset="0"/>
              </a:rPr>
              <a:t>() </a:t>
            </a:r>
          </a:p>
          <a:p>
            <a:pPr lvl="0" algn="ctr" eaLnBrk="0" fontAlgn="base" hangingPunct="0">
              <a:spcBef>
                <a:spcPct val="0"/>
              </a:spcBef>
              <a:spcAft>
                <a:spcPct val="0"/>
              </a:spcAft>
            </a:pPr>
            <a:r>
              <a:rPr lang="en-US" altLang="en-US" sz="1400" dirty="0">
                <a:latin typeface="Arial" panose="020B0604020202020204" pitchFamily="34" charset="0"/>
              </a:rPr>
              <a:t> d/ </a:t>
            </a:r>
            <a:r>
              <a:rPr lang="ar-SA" altLang="en-US" sz="1400" dirty="0">
                <a:latin typeface="Arial" panose="020B0604020202020204" pitchFamily="34" charset="0"/>
              </a:rPr>
              <a:t> </a:t>
            </a:r>
            <a:r>
              <a:rPr lang="en-US" altLang="en-US" sz="1400" dirty="0" err="1">
                <a:latin typeface="Arial" panose="020B0604020202020204" pitchFamily="34" charset="0"/>
              </a:rPr>
              <a:t>isspace</a:t>
            </a:r>
            <a:r>
              <a:rPr lang="en-US" altLang="en-US" sz="1400" dirty="0">
                <a:latin typeface="Arial" panose="020B0604020202020204" pitchFamily="34" charset="0"/>
              </a:rPr>
              <a:t>()</a:t>
            </a:r>
          </a:p>
          <a:p>
            <a:pPr lvl="0" algn="r" rtl="1" eaLnBrk="0" fontAlgn="base" hangingPunct="0">
              <a:spcBef>
                <a:spcPct val="0"/>
              </a:spcBef>
              <a:spcAft>
                <a:spcPct val="0"/>
              </a:spcAft>
            </a:pPr>
            <a:r>
              <a:rPr lang="en-US" sz="1400" dirty="0"/>
              <a:t>3</a:t>
            </a:r>
            <a:r>
              <a:rPr lang="ar-DZ" sz="1400" dirty="0"/>
              <a:t>. ما هو ناتج تنفيذ الكود التالي؟</a:t>
            </a:r>
            <a:r>
              <a:rPr lang="en-US" sz="1400" dirty="0"/>
              <a:t> </a:t>
            </a:r>
          </a:p>
          <a:p>
            <a:pPr lvl="0" algn="r" rtl="1" eaLnBrk="0" fontAlgn="base" hangingPunct="0">
              <a:spcBef>
                <a:spcPct val="0"/>
              </a:spcBef>
              <a:spcAft>
                <a:spcPct val="0"/>
              </a:spcAft>
            </a:pPr>
            <a:endParaRPr lang="en-US" altLang="en-US" sz="1400" dirty="0">
              <a:latin typeface="Arial" panose="020B0604020202020204" pitchFamily="34" charset="0"/>
            </a:endParaRPr>
          </a:p>
          <a:p>
            <a:pPr lvl="0" algn="r" rtl="1" eaLnBrk="0" fontAlgn="base" hangingPunct="0">
              <a:spcBef>
                <a:spcPct val="0"/>
              </a:spcBef>
              <a:spcAft>
                <a:spcPct val="0"/>
              </a:spcAft>
            </a:pPr>
            <a:endParaRPr lang="en-US" altLang="en-US" sz="1400" dirty="0">
              <a:latin typeface="Arial" panose="020B0604020202020204" pitchFamily="34" charset="0"/>
            </a:endParaRPr>
          </a:p>
          <a:p>
            <a:pPr lvl="0" algn="r" rtl="1" eaLnBrk="0" fontAlgn="base" hangingPunct="0">
              <a:spcBef>
                <a:spcPct val="0"/>
              </a:spcBef>
              <a:spcAft>
                <a:spcPct val="0"/>
              </a:spcAft>
            </a:pPr>
            <a:endParaRPr lang="en-US" altLang="en-US" sz="1400" dirty="0">
              <a:latin typeface="Arial" panose="020B0604020202020204" pitchFamily="34" charset="0"/>
            </a:endParaRPr>
          </a:p>
          <a:p>
            <a:pPr lvl="0" algn="r" rtl="1" eaLnBrk="0" fontAlgn="base" hangingPunct="0">
              <a:spcBef>
                <a:spcPct val="0"/>
              </a:spcBef>
              <a:spcAft>
                <a:spcPct val="0"/>
              </a:spcAft>
            </a:pPr>
            <a:endParaRPr lang="en-US" altLang="en-US" sz="1400" dirty="0">
              <a:latin typeface="Arial" panose="020B0604020202020204" pitchFamily="34" charset="0"/>
            </a:endParaRPr>
          </a:p>
          <a:p>
            <a:pPr lvl="0" algn="r" rtl="1" eaLnBrk="0" fontAlgn="base" hangingPunct="0">
              <a:spcBef>
                <a:spcPct val="0"/>
              </a:spcBef>
              <a:spcAft>
                <a:spcPct val="0"/>
              </a:spcAft>
            </a:pPr>
            <a:endParaRPr lang="en-US" altLang="en-US" sz="1400" dirty="0">
              <a:latin typeface="Arial" panose="020B0604020202020204" pitchFamily="34" charset="0"/>
            </a:endParaRPr>
          </a:p>
          <a:p>
            <a:pPr lvl="0" algn="r" rtl="1" eaLnBrk="0" fontAlgn="base" hangingPunct="0">
              <a:spcBef>
                <a:spcPct val="0"/>
              </a:spcBef>
              <a:spcAft>
                <a:spcPct val="0"/>
              </a:spcAft>
            </a:pPr>
            <a:r>
              <a:rPr lang="en-US" sz="1400" dirty="0"/>
              <a:t>4</a:t>
            </a:r>
            <a:r>
              <a:rPr lang="ar-DZ" sz="1400" dirty="0"/>
              <a:t>. إذا نفذنا الكود التالي، ما هي القيمة التي ستُطبع على الشاشة؟</a:t>
            </a:r>
            <a:endParaRPr lang="en-US" sz="1400" dirty="0"/>
          </a:p>
          <a:p>
            <a:pPr lvl="0" algn="r" rtl="1" eaLnBrk="0" fontAlgn="base" hangingPunct="0">
              <a:spcBef>
                <a:spcPct val="0"/>
              </a:spcBef>
              <a:spcAft>
                <a:spcPct val="0"/>
              </a:spcAft>
            </a:pPr>
            <a:endParaRPr lang="en-US" sz="1400" dirty="0"/>
          </a:p>
          <a:p>
            <a:pPr lvl="0" algn="r" rtl="1" eaLnBrk="0" fontAlgn="base" hangingPunct="0">
              <a:spcBef>
                <a:spcPct val="0"/>
              </a:spcBef>
              <a:spcAft>
                <a:spcPct val="0"/>
              </a:spcAft>
            </a:pPr>
            <a:endParaRPr lang="en-US" sz="1400" dirty="0"/>
          </a:p>
          <a:p>
            <a:pPr lvl="0" algn="r" rtl="1" eaLnBrk="0" fontAlgn="base" hangingPunct="0">
              <a:spcBef>
                <a:spcPct val="0"/>
              </a:spcBef>
              <a:spcAft>
                <a:spcPct val="0"/>
              </a:spcAft>
            </a:pPr>
            <a:endParaRPr lang="en-US" sz="1400" dirty="0"/>
          </a:p>
          <a:p>
            <a:pPr lvl="0" algn="r" rtl="1" eaLnBrk="0" fontAlgn="base" hangingPunct="0">
              <a:spcBef>
                <a:spcPct val="0"/>
              </a:spcBef>
              <a:spcAft>
                <a:spcPct val="0"/>
              </a:spcAft>
            </a:pPr>
            <a:endParaRPr lang="en-US" sz="1400" dirty="0"/>
          </a:p>
          <a:p>
            <a:pPr lvl="0" algn="r" rtl="1" eaLnBrk="0" fontAlgn="base" hangingPunct="0">
              <a:spcBef>
                <a:spcPct val="0"/>
              </a:spcBef>
              <a:spcAft>
                <a:spcPct val="0"/>
              </a:spcAft>
            </a:pPr>
            <a:endParaRPr lang="ar-SA" altLang="en-US" sz="1400" dirty="0">
              <a:latin typeface="Arial" panose="020B0604020202020204" pitchFamily="34" charset="0"/>
            </a:endParaRPr>
          </a:p>
        </p:txBody>
      </p:sp>
      <p:pic>
        <p:nvPicPr>
          <p:cNvPr id="12" name="Image 11">
            <a:extLst>
              <a:ext uri="{FF2B5EF4-FFF2-40B4-BE49-F238E27FC236}">
                <a16:creationId xmlns:a16="http://schemas.microsoft.com/office/drawing/2014/main" id="{7FFC5712-C69B-4FDA-8E92-80B174C18019}"/>
              </a:ext>
            </a:extLst>
          </p:cNvPr>
          <p:cNvPicPr>
            <a:picLocks noChangeAspect="1"/>
          </p:cNvPicPr>
          <p:nvPr/>
        </p:nvPicPr>
        <p:blipFill>
          <a:blip r:embed="rId2"/>
          <a:stretch>
            <a:fillRect/>
          </a:stretch>
        </p:blipFill>
        <p:spPr>
          <a:xfrm>
            <a:off x="2673187" y="3811389"/>
            <a:ext cx="3276768" cy="692186"/>
          </a:xfrm>
          <a:prstGeom prst="rect">
            <a:avLst/>
          </a:prstGeom>
        </p:spPr>
      </p:pic>
      <p:pic>
        <p:nvPicPr>
          <p:cNvPr id="13" name="Image 12">
            <a:extLst>
              <a:ext uri="{FF2B5EF4-FFF2-40B4-BE49-F238E27FC236}">
                <a16:creationId xmlns:a16="http://schemas.microsoft.com/office/drawing/2014/main" id="{5DFC4D93-C9FD-4C63-AC45-72E77BCF82D5}"/>
              </a:ext>
            </a:extLst>
          </p:cNvPr>
          <p:cNvPicPr>
            <a:picLocks noChangeAspect="1"/>
          </p:cNvPicPr>
          <p:nvPr/>
        </p:nvPicPr>
        <p:blipFill>
          <a:blip r:embed="rId3"/>
          <a:stretch>
            <a:fillRect/>
          </a:stretch>
        </p:blipFill>
        <p:spPr>
          <a:xfrm>
            <a:off x="2673188" y="2571750"/>
            <a:ext cx="3276768" cy="692186"/>
          </a:xfrm>
          <a:prstGeom prst="rect">
            <a:avLst/>
          </a:prstGeom>
        </p:spPr>
      </p:pic>
    </p:spTree>
    <p:extLst>
      <p:ext uri="{BB962C8B-B14F-4D97-AF65-F5344CB8AC3E}">
        <p14:creationId xmlns:p14="http://schemas.microsoft.com/office/powerpoint/2010/main" val="4277683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F17BEDD-120D-4389-BFB2-7BE8E1DA4C6B}"/>
              </a:ext>
            </a:extLst>
          </p:cNvPr>
          <p:cNvSpPr txBox="1"/>
          <p:nvPr/>
        </p:nvSpPr>
        <p:spPr>
          <a:xfrm>
            <a:off x="492770" y="307497"/>
            <a:ext cx="1611567"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Input </a:t>
            </a:r>
          </a:p>
        </p:txBody>
      </p:sp>
      <p:sp>
        <p:nvSpPr>
          <p:cNvPr id="3" name="Rectangle 1">
            <a:extLst>
              <a:ext uri="{FF2B5EF4-FFF2-40B4-BE49-F238E27FC236}">
                <a16:creationId xmlns:a16="http://schemas.microsoft.com/office/drawing/2014/main" id="{AB745222-8407-4E95-AAC4-19FBAE2D7416}"/>
              </a:ext>
            </a:extLst>
          </p:cNvPr>
          <p:cNvSpPr>
            <a:spLocks noChangeArrowheads="1"/>
          </p:cNvSpPr>
          <p:nvPr/>
        </p:nvSpPr>
        <p:spPr bwMode="auto">
          <a:xfrm>
            <a:off x="767894" y="987811"/>
            <a:ext cx="65624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a:ln>
                  <a:noFill/>
                </a:ln>
                <a:solidFill>
                  <a:schemeClr val="tx1"/>
                </a:solidFill>
                <a:effectLst/>
                <a:latin typeface="Arial" panose="020B0604020202020204" pitchFamily="34" charset="0"/>
              </a:rPr>
              <a:t>The </a:t>
            </a:r>
            <a:r>
              <a:rPr kumimoji="0" lang="en-US" altLang="en-US" b="0" i="0" u="none" strike="noStrike" cap="none" normalizeH="0" baseline="0">
                <a:ln>
                  <a:noFill/>
                </a:ln>
                <a:solidFill>
                  <a:schemeClr val="tx1"/>
                </a:solidFill>
                <a:effectLst/>
                <a:latin typeface="Arial Unicode MS"/>
              </a:rPr>
              <a:t>input()</a:t>
            </a:r>
            <a:r>
              <a:rPr kumimoji="0" lang="en-US" altLang="en-US" b="0" i="0" u="none" strike="noStrike" cap="none" normalizeH="0" baseline="0">
                <a:ln>
                  <a:noFill/>
                </a:ln>
                <a:solidFill>
                  <a:schemeClr val="tx1"/>
                </a:solidFill>
                <a:effectLst/>
              </a:rPr>
              <a:t> function is used to take data from the user.</a:t>
            </a:r>
            <a:endParaRPr kumimoji="0" lang="en-US" altLang="en-US"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a:ln>
                <a:noFill/>
              </a:ln>
              <a:solidFill>
                <a:schemeClr val="tx1"/>
              </a:solidFill>
              <a:effectLst/>
              <a:latin typeface="Arial" panose="020B0604020202020204" pitchFamily="34" charset="0"/>
            </a:endParaRPr>
          </a:p>
        </p:txBody>
      </p:sp>
      <p:pic>
        <p:nvPicPr>
          <p:cNvPr id="4" name="Image 3">
            <a:extLst>
              <a:ext uri="{FF2B5EF4-FFF2-40B4-BE49-F238E27FC236}">
                <a16:creationId xmlns:a16="http://schemas.microsoft.com/office/drawing/2014/main" id="{8A844566-ABD3-4337-BFF4-DC0BDD2F747B}"/>
              </a:ext>
            </a:extLst>
          </p:cNvPr>
          <p:cNvPicPr>
            <a:picLocks noChangeAspect="1"/>
          </p:cNvPicPr>
          <p:nvPr/>
        </p:nvPicPr>
        <p:blipFill>
          <a:blip r:embed="rId2"/>
          <a:stretch>
            <a:fillRect/>
          </a:stretch>
        </p:blipFill>
        <p:spPr>
          <a:xfrm>
            <a:off x="1835869" y="1464879"/>
            <a:ext cx="4697641" cy="775823"/>
          </a:xfrm>
          <a:prstGeom prst="rect">
            <a:avLst/>
          </a:prstGeom>
          <a:ln>
            <a:noFill/>
          </a:ln>
          <a:effectLst>
            <a:outerShdw blurRad="292100" dist="139700" dir="2700000" algn="tl" rotWithShape="0">
              <a:srgbClr val="333333">
                <a:alpha val="65000"/>
              </a:srgbClr>
            </a:outerShdw>
          </a:effectLst>
        </p:spPr>
      </p:pic>
      <p:sp>
        <p:nvSpPr>
          <p:cNvPr id="6" name="Rectangle 2">
            <a:extLst>
              <a:ext uri="{FF2B5EF4-FFF2-40B4-BE49-F238E27FC236}">
                <a16:creationId xmlns:a16="http://schemas.microsoft.com/office/drawing/2014/main" id="{6F1A542D-477C-4D16-8D86-B616AB548A2E}"/>
              </a:ext>
            </a:extLst>
          </p:cNvPr>
          <p:cNvSpPr>
            <a:spLocks noChangeArrowheads="1"/>
          </p:cNvSpPr>
          <p:nvPr/>
        </p:nvSpPr>
        <p:spPr bwMode="auto">
          <a:xfrm>
            <a:off x="777998" y="2441149"/>
            <a:ext cx="63654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chemeClr val="tx1"/>
                </a:solidFill>
                <a:effectLst/>
                <a:latin typeface="Arial" panose="020B0604020202020204" pitchFamily="34" charset="0"/>
              </a:rPr>
              <a:t>No matter what the user types (even if it's a number), </a:t>
            </a:r>
            <a:r>
              <a:rPr kumimoji="0" lang="en-US" altLang="en-US" sz="1600" b="0" i="0" u="none" strike="noStrike" cap="none" normalizeH="0" baseline="0">
                <a:ln>
                  <a:noFill/>
                </a:ln>
                <a:solidFill>
                  <a:schemeClr val="tx1"/>
                </a:solidFill>
                <a:effectLst/>
                <a:latin typeface="Arial Unicode MS"/>
              </a:rPr>
              <a:t>input()</a:t>
            </a:r>
            <a:r>
              <a:rPr kumimoji="0" lang="en-US" altLang="en-US" sz="1600" b="0" i="0" u="none" strike="noStrike" cap="none" normalizeH="0" baseline="0">
                <a:ln>
                  <a:noFill/>
                </a:ln>
                <a:solidFill>
                  <a:schemeClr val="tx1"/>
                </a:solidFill>
                <a:effectLst/>
              </a:rPr>
              <a:t> always reads it as a </a:t>
            </a:r>
            <a:r>
              <a:rPr kumimoji="0" lang="en-US" altLang="en-US" sz="1600" b="1" i="0" u="none" strike="noStrike" cap="none" normalizeH="0" baseline="0">
                <a:ln>
                  <a:noFill/>
                </a:ln>
                <a:solidFill>
                  <a:schemeClr val="tx1"/>
                </a:solidFill>
                <a:effectLst/>
                <a:latin typeface="Arial" panose="020B0604020202020204" pitchFamily="34" charset="0"/>
              </a:rPr>
              <a:t>string</a:t>
            </a:r>
            <a:r>
              <a:rPr kumimoji="0" lang="en-US" altLang="en-US" sz="1600" b="0" i="0" u="none" strike="noStrike" cap="none" normalizeH="0" baseline="0">
                <a:ln>
                  <a:noFill/>
                </a:ln>
                <a:solidFill>
                  <a:schemeClr val="tx1"/>
                </a:solidFill>
                <a:effectLst/>
                <a:latin typeface="Arial" panose="020B0604020202020204" pitchFamily="34" charset="0"/>
              </a:rPr>
              <a:t> (</a:t>
            </a:r>
            <a:r>
              <a:rPr kumimoji="0" lang="en-US" altLang="en-US" sz="1600" b="0" i="0" u="none" strike="noStrike" cap="none" normalizeH="0" baseline="0">
                <a:ln>
                  <a:noFill/>
                </a:ln>
                <a:solidFill>
                  <a:schemeClr val="tx1"/>
                </a:solidFill>
                <a:effectLst/>
                <a:latin typeface="Arial Unicode MS"/>
              </a:rPr>
              <a:t>str</a:t>
            </a:r>
            <a:r>
              <a:rPr kumimoji="0" lang="en-US" altLang="en-US" sz="1600" b="0" i="0" u="none" strike="noStrike" cap="none" normalizeH="0" baseline="0">
                <a:ln>
                  <a:noFill/>
                </a:ln>
                <a:solidFill>
                  <a:schemeClr val="tx1"/>
                </a:solidFill>
                <a:effectLst/>
              </a:rPr>
              <a:t>). </a:t>
            </a:r>
            <a:endParaRPr kumimoji="0" lang="en-US" altLang="en-US" sz="1600" b="0" i="0" u="none" strike="noStrike" cap="none" normalizeH="0" baseline="0">
              <a:ln>
                <a:noFill/>
              </a:ln>
              <a:solidFill>
                <a:schemeClr val="tx1"/>
              </a:solidFill>
              <a:effectLst/>
              <a:latin typeface="Arial" panose="020B0604020202020204" pitchFamily="34" charset="0"/>
            </a:endParaRPr>
          </a:p>
        </p:txBody>
      </p:sp>
      <p:pic>
        <p:nvPicPr>
          <p:cNvPr id="7" name="Image 6">
            <a:extLst>
              <a:ext uri="{FF2B5EF4-FFF2-40B4-BE49-F238E27FC236}">
                <a16:creationId xmlns:a16="http://schemas.microsoft.com/office/drawing/2014/main" id="{75588CDC-22DA-4F67-96AF-E2AED5E59FB7}"/>
              </a:ext>
            </a:extLst>
          </p:cNvPr>
          <p:cNvPicPr>
            <a:picLocks noChangeAspect="1"/>
          </p:cNvPicPr>
          <p:nvPr/>
        </p:nvPicPr>
        <p:blipFill>
          <a:blip r:embed="rId3"/>
          <a:stretch>
            <a:fillRect/>
          </a:stretch>
        </p:blipFill>
        <p:spPr>
          <a:xfrm>
            <a:off x="1835869" y="3082396"/>
            <a:ext cx="4625679" cy="955468"/>
          </a:xfrm>
          <a:prstGeom prst="rect">
            <a:avLst/>
          </a:prstGeom>
          <a:ln>
            <a:noFill/>
          </a:ln>
          <a:effectLst>
            <a:outerShdw blurRad="292100" dist="139700" dir="2700000" algn="tl" rotWithShape="0">
              <a:srgbClr val="333333">
                <a:alpha val="65000"/>
              </a:srgbClr>
            </a:outerShdw>
          </a:effectLst>
        </p:spPr>
      </p:pic>
      <p:sp>
        <p:nvSpPr>
          <p:cNvPr id="8" name="Rectangle 7">
            <a:extLst>
              <a:ext uri="{FF2B5EF4-FFF2-40B4-BE49-F238E27FC236}">
                <a16:creationId xmlns:a16="http://schemas.microsoft.com/office/drawing/2014/main" id="{AD357775-053B-4031-ABB5-A89D04B543A1}"/>
              </a:ext>
            </a:extLst>
          </p:cNvPr>
          <p:cNvSpPr/>
          <p:nvPr/>
        </p:nvSpPr>
        <p:spPr>
          <a:xfrm>
            <a:off x="1298553" y="4286611"/>
            <a:ext cx="4253729" cy="369332"/>
          </a:xfrm>
          <a:prstGeom prst="rect">
            <a:avLst/>
          </a:prstGeom>
        </p:spPr>
        <p:txBody>
          <a:bodyPr wrap="none">
            <a:spAutoFit/>
          </a:bodyPr>
          <a:lstStyle/>
          <a:p>
            <a:r>
              <a:rPr lang="en-US" dirty="0"/>
              <a:t>you </a:t>
            </a:r>
            <a:r>
              <a:rPr lang="en-US" b="1" dirty="0"/>
              <a:t>must</a:t>
            </a:r>
            <a:r>
              <a:rPr lang="en-US" dirty="0"/>
              <a:t> convert it if you want to do math.</a:t>
            </a:r>
          </a:p>
        </p:txBody>
      </p:sp>
      <p:sp>
        <p:nvSpPr>
          <p:cNvPr id="9" name="ZoneTexte 8">
            <a:extLst>
              <a:ext uri="{FF2B5EF4-FFF2-40B4-BE49-F238E27FC236}">
                <a16:creationId xmlns:a16="http://schemas.microsoft.com/office/drawing/2014/main" id="{9E04DBD2-4283-42E9-BEDD-095EBD3978D9}"/>
              </a:ext>
            </a:extLst>
          </p:cNvPr>
          <p:cNvSpPr txBox="1"/>
          <p:nvPr/>
        </p:nvSpPr>
        <p:spPr>
          <a:xfrm flipH="1">
            <a:off x="5643261" y="4425110"/>
            <a:ext cx="1636575" cy="461665"/>
          </a:xfrm>
          <a:prstGeom prst="rect">
            <a:avLst/>
          </a:prstGeom>
          <a:noFill/>
        </p:spPr>
        <p:txBody>
          <a:bodyPr wrap="square" rtlCol="0">
            <a:spAutoFit/>
          </a:bodyPr>
          <a:lstStyle/>
          <a:p>
            <a:r>
              <a:rPr lang="en-US" sz="2400" dirty="0"/>
              <a:t>How ?</a:t>
            </a:r>
          </a:p>
        </p:txBody>
      </p:sp>
    </p:spTree>
    <p:extLst>
      <p:ext uri="{BB962C8B-B14F-4D97-AF65-F5344CB8AC3E}">
        <p14:creationId xmlns:p14="http://schemas.microsoft.com/office/powerpoint/2010/main" val="2146099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BE482AC-3498-4AB2-AB4E-19F505E4D142}"/>
              </a:ext>
            </a:extLst>
          </p:cNvPr>
          <p:cNvSpPr/>
          <p:nvPr/>
        </p:nvSpPr>
        <p:spPr>
          <a:xfrm>
            <a:off x="596619" y="442090"/>
            <a:ext cx="1686231" cy="461665"/>
          </a:xfrm>
          <a:prstGeom prst="rect">
            <a:avLst/>
          </a:prstGeom>
        </p:spPr>
        <p:txBody>
          <a:bodyPr wrap="none">
            <a:spAutoFit/>
          </a:bodyPr>
          <a:lstStyle/>
          <a:p>
            <a:r>
              <a:rPr lang="en-US" sz="2400" b="1" dirty="0">
                <a:effectLst>
                  <a:outerShdw blurRad="38100" dist="38100" dir="2700000" algn="tl">
                    <a:srgbClr val="000000">
                      <a:alpha val="43137"/>
                    </a:srgbClr>
                  </a:outerShdw>
                </a:effectLst>
              </a:rPr>
              <a:t>Typecasting</a:t>
            </a:r>
          </a:p>
        </p:txBody>
      </p:sp>
      <p:sp>
        <p:nvSpPr>
          <p:cNvPr id="4" name="Rectangle 1">
            <a:extLst>
              <a:ext uri="{FF2B5EF4-FFF2-40B4-BE49-F238E27FC236}">
                <a16:creationId xmlns:a16="http://schemas.microsoft.com/office/drawing/2014/main" id="{85DFE7B4-0CFD-4552-B70D-389B950D2CBF}"/>
              </a:ext>
            </a:extLst>
          </p:cNvPr>
          <p:cNvSpPr>
            <a:spLocks noChangeArrowheads="1"/>
          </p:cNvSpPr>
          <p:nvPr/>
        </p:nvSpPr>
        <p:spPr bwMode="auto">
          <a:xfrm>
            <a:off x="904295" y="903755"/>
            <a:ext cx="67241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conversion using functions like </a:t>
            </a:r>
            <a:r>
              <a:rPr kumimoji="0" lang="en-US" altLang="en-US" b="1" i="0" u="none" strike="noStrike" cap="none" normalizeH="0" baseline="0" dirty="0">
                <a:ln>
                  <a:noFill/>
                </a:ln>
                <a:solidFill>
                  <a:schemeClr val="tx1"/>
                </a:solidFill>
                <a:effectLst/>
                <a:latin typeface="Arial Unicode MS"/>
              </a:rPr>
              <a:t>int()</a:t>
            </a:r>
            <a:r>
              <a:rPr kumimoji="0" lang="en-US" altLang="en-US" b="1" i="0" u="none" strike="noStrike" cap="none" normalizeH="0" baseline="0" dirty="0">
                <a:ln>
                  <a:noFill/>
                </a:ln>
                <a:solidFill>
                  <a:schemeClr val="tx1"/>
                </a:solidFill>
                <a:effectLst/>
              </a:rPr>
              <a:t>, </a:t>
            </a:r>
            <a:r>
              <a:rPr kumimoji="0" lang="en-US" altLang="en-US" b="1" i="0" u="none" strike="noStrike" cap="none" normalizeH="0" baseline="0" dirty="0">
                <a:ln>
                  <a:noFill/>
                </a:ln>
                <a:solidFill>
                  <a:schemeClr val="tx1"/>
                </a:solidFill>
                <a:effectLst/>
                <a:latin typeface="Arial Unicode MS"/>
              </a:rPr>
              <a:t>float()</a:t>
            </a:r>
            <a:r>
              <a:rPr kumimoji="0" lang="en-US" altLang="en-US" b="1" i="0" u="none" strike="noStrike" cap="none" normalizeH="0" baseline="0" dirty="0">
                <a:ln>
                  <a:noFill/>
                </a:ln>
                <a:solidFill>
                  <a:schemeClr val="tx1"/>
                </a:solidFill>
                <a:effectLst/>
              </a:rPr>
              <a:t>, </a:t>
            </a:r>
            <a:r>
              <a:rPr kumimoji="0" lang="en-US" altLang="en-US" b="1" i="0" u="none" strike="noStrike" cap="none" normalizeH="0" baseline="0" dirty="0">
                <a:ln>
                  <a:noFill/>
                </a:ln>
                <a:solidFill>
                  <a:schemeClr val="tx1"/>
                </a:solidFill>
                <a:effectLst/>
                <a:latin typeface="Arial Unicode MS"/>
              </a:rPr>
              <a:t>str()</a:t>
            </a:r>
            <a:r>
              <a:rPr kumimoji="0" lang="en-US" altLang="en-US" b="1" i="0" u="none" strike="noStrike" cap="none" normalizeH="0" baseline="0" dirty="0">
                <a:ln>
                  <a:noFill/>
                </a:ln>
                <a:solidFill>
                  <a:schemeClr val="tx1"/>
                </a:solidFill>
                <a:effectLst/>
              </a:rPr>
              <a:t>, and </a:t>
            </a:r>
            <a:r>
              <a:rPr kumimoji="0" lang="en-US" altLang="en-US" b="1" i="0" u="none" strike="noStrike" cap="none" normalizeH="0" baseline="0" dirty="0">
                <a:ln>
                  <a:noFill/>
                </a:ln>
                <a:solidFill>
                  <a:schemeClr val="tx1"/>
                </a:solidFill>
                <a:effectLst/>
                <a:latin typeface="Arial Unicode MS"/>
              </a:rPr>
              <a:t>bool()</a:t>
            </a:r>
            <a:r>
              <a:rPr kumimoji="0" lang="en-US" altLang="en-US" b="1" i="0" u="none" strike="noStrike" cap="none" normalizeH="0" baseline="0" dirty="0">
                <a:ln>
                  <a:noFill/>
                </a:ln>
                <a:solidFill>
                  <a:schemeClr val="tx1"/>
                </a:solidFill>
                <a:effectLst/>
              </a:rPr>
              <a:t> </a:t>
            </a:r>
            <a:endParaRPr kumimoji="0" lang="en-US" altLang="en-US" b="1" i="0" u="none" strike="noStrike" cap="none" normalizeH="0" baseline="0" dirty="0">
              <a:ln>
                <a:noFill/>
              </a:ln>
              <a:solidFill>
                <a:schemeClr val="tx1"/>
              </a:solidFill>
              <a:effectLst/>
              <a:latin typeface="Arial" panose="020B0604020202020204" pitchFamily="34" charset="0"/>
            </a:endParaRPr>
          </a:p>
        </p:txBody>
      </p:sp>
      <p:pic>
        <p:nvPicPr>
          <p:cNvPr id="5" name="Image 4">
            <a:extLst>
              <a:ext uri="{FF2B5EF4-FFF2-40B4-BE49-F238E27FC236}">
                <a16:creationId xmlns:a16="http://schemas.microsoft.com/office/drawing/2014/main" id="{1FD902BF-06F5-4D8A-9DA5-63DE67CDC9C7}"/>
              </a:ext>
            </a:extLst>
          </p:cNvPr>
          <p:cNvPicPr>
            <a:picLocks noChangeAspect="1"/>
          </p:cNvPicPr>
          <p:nvPr/>
        </p:nvPicPr>
        <p:blipFill>
          <a:blip r:embed="rId2"/>
          <a:stretch>
            <a:fillRect/>
          </a:stretch>
        </p:blipFill>
        <p:spPr>
          <a:xfrm>
            <a:off x="687206" y="1493552"/>
            <a:ext cx="7544023" cy="30329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5180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336A6806-E012-47B1-B336-41E57ED06950}"/>
              </a:ext>
            </a:extLst>
          </p:cNvPr>
          <p:cNvPicPr>
            <a:picLocks noChangeAspect="1"/>
          </p:cNvPicPr>
          <p:nvPr/>
        </p:nvPicPr>
        <p:blipFill>
          <a:blip r:embed="rId2"/>
          <a:stretch>
            <a:fillRect/>
          </a:stretch>
        </p:blipFill>
        <p:spPr>
          <a:xfrm>
            <a:off x="1053500" y="2357999"/>
            <a:ext cx="6569867" cy="1007258"/>
          </a:xfrm>
          <a:prstGeom prst="rect">
            <a:avLst/>
          </a:prstGeom>
          <a:ln>
            <a:noFill/>
          </a:ln>
          <a:effectLst>
            <a:outerShdw blurRad="292100" dist="139700" dir="2700000" algn="tl" rotWithShape="0">
              <a:srgbClr val="333333">
                <a:alpha val="65000"/>
              </a:srgbClr>
            </a:outerShdw>
          </a:effectLst>
        </p:spPr>
      </p:pic>
      <p:sp>
        <p:nvSpPr>
          <p:cNvPr id="3" name="ZoneTexte 2">
            <a:extLst>
              <a:ext uri="{FF2B5EF4-FFF2-40B4-BE49-F238E27FC236}">
                <a16:creationId xmlns:a16="http://schemas.microsoft.com/office/drawing/2014/main" id="{023E9799-347E-4A46-9983-6307676AE8C8}"/>
              </a:ext>
            </a:extLst>
          </p:cNvPr>
          <p:cNvSpPr txBox="1"/>
          <p:nvPr/>
        </p:nvSpPr>
        <p:spPr>
          <a:xfrm>
            <a:off x="3692964" y="3859677"/>
            <a:ext cx="3743483" cy="584775"/>
          </a:xfrm>
          <a:prstGeom prst="rect">
            <a:avLst/>
          </a:prstGeom>
          <a:noFill/>
        </p:spPr>
        <p:txBody>
          <a:bodyPr wrap="square" rtlCol="0">
            <a:spAutoFit/>
          </a:bodyPr>
          <a:lstStyle/>
          <a:p>
            <a:r>
              <a:rPr lang="en-US" sz="3200" dirty="0"/>
              <a:t>Next slide exercises</a:t>
            </a:r>
          </a:p>
        </p:txBody>
      </p:sp>
      <p:pic>
        <p:nvPicPr>
          <p:cNvPr id="4" name="Image 3">
            <a:extLst>
              <a:ext uri="{FF2B5EF4-FFF2-40B4-BE49-F238E27FC236}">
                <a16:creationId xmlns:a16="http://schemas.microsoft.com/office/drawing/2014/main" id="{F87700BB-BF6E-4003-8E55-53C0646B46C9}"/>
              </a:ext>
            </a:extLst>
          </p:cNvPr>
          <p:cNvPicPr>
            <a:picLocks noChangeAspect="1"/>
          </p:cNvPicPr>
          <p:nvPr/>
        </p:nvPicPr>
        <p:blipFill>
          <a:blip r:embed="rId3"/>
          <a:stretch>
            <a:fillRect/>
          </a:stretch>
        </p:blipFill>
        <p:spPr>
          <a:xfrm>
            <a:off x="992196" y="274469"/>
            <a:ext cx="6902277" cy="14257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75433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98D4CA0F-CD24-48B2-93DA-68AE415EEC5B}"/>
              </a:ext>
            </a:extLst>
          </p:cNvPr>
          <p:cNvPicPr>
            <a:picLocks noChangeAspect="1"/>
          </p:cNvPicPr>
          <p:nvPr/>
        </p:nvPicPr>
        <p:blipFill>
          <a:blip r:embed="rId2"/>
          <a:stretch>
            <a:fillRect/>
          </a:stretch>
        </p:blipFill>
        <p:spPr>
          <a:xfrm>
            <a:off x="1933106" y="1524000"/>
            <a:ext cx="4078976" cy="1479815"/>
          </a:xfrm>
          <a:prstGeom prst="rect">
            <a:avLst/>
          </a:prstGeom>
          <a:ln>
            <a:noFill/>
          </a:ln>
          <a:effectLst>
            <a:outerShdw blurRad="292100" dist="139700" dir="2700000" algn="tl" rotWithShape="0">
              <a:srgbClr val="333333">
                <a:alpha val="65000"/>
              </a:srgbClr>
            </a:outerShdw>
          </a:effectLst>
        </p:spPr>
      </p:pic>
      <p:sp>
        <p:nvSpPr>
          <p:cNvPr id="4" name="ZoneTexte 3">
            <a:extLst>
              <a:ext uri="{FF2B5EF4-FFF2-40B4-BE49-F238E27FC236}">
                <a16:creationId xmlns:a16="http://schemas.microsoft.com/office/drawing/2014/main" id="{67D0CEA1-E3CB-4E68-983E-722033FF3AA3}"/>
              </a:ext>
            </a:extLst>
          </p:cNvPr>
          <p:cNvSpPr txBox="1"/>
          <p:nvPr/>
        </p:nvSpPr>
        <p:spPr>
          <a:xfrm>
            <a:off x="492770" y="307497"/>
            <a:ext cx="1611567" cy="461665"/>
          </a:xfrm>
          <a:prstGeom prst="rect">
            <a:avLst/>
          </a:prstGeom>
          <a:noFill/>
        </p:spPr>
        <p:txBody>
          <a:bodyPr wrap="square" rtlCol="0">
            <a:spAutoFit/>
          </a:bodyPr>
          <a:lstStyle/>
          <a:p>
            <a:r>
              <a:rPr lang="en-US" sz="2400" b="1" dirty="0">
                <a:effectLst>
                  <a:outerShdw blurRad="38100" dist="38100" dir="2700000" algn="tl">
                    <a:srgbClr val="000000">
                      <a:alpha val="43137"/>
                    </a:srgbClr>
                  </a:outerShdw>
                </a:effectLst>
              </a:rPr>
              <a:t>indexing </a:t>
            </a:r>
          </a:p>
        </p:txBody>
      </p:sp>
    </p:spTree>
    <p:extLst>
      <p:ext uri="{BB962C8B-B14F-4D97-AF65-F5344CB8AC3E}">
        <p14:creationId xmlns:p14="http://schemas.microsoft.com/office/powerpoint/2010/main" val="3855913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BFA1F52-2220-4DBD-AA83-93D2FB3D4733}"/>
              </a:ext>
            </a:extLst>
          </p:cNvPr>
          <p:cNvSpPr txBox="1"/>
          <p:nvPr/>
        </p:nvSpPr>
        <p:spPr>
          <a:xfrm>
            <a:off x="717375" y="419311"/>
            <a:ext cx="1313308" cy="461665"/>
          </a:xfrm>
          <a:prstGeom prst="rect">
            <a:avLst/>
          </a:prstGeom>
          <a:noFill/>
        </p:spPr>
        <p:txBody>
          <a:bodyPr wrap="none" rtlCol="0">
            <a:spAutoFit/>
          </a:bodyPr>
          <a:lstStyle/>
          <a:p>
            <a:r>
              <a:rPr lang="en-US" sz="2400" dirty="0">
                <a:effectLst>
                  <a:outerShdw blurRad="38100" dist="38100" dir="2700000" algn="tl">
                    <a:srgbClr val="000000">
                      <a:alpha val="43137"/>
                    </a:srgbClr>
                  </a:outerShdw>
                </a:effectLst>
              </a:rPr>
              <a:t>Indexing </a:t>
            </a:r>
          </a:p>
        </p:txBody>
      </p:sp>
      <p:sp>
        <p:nvSpPr>
          <p:cNvPr id="3" name="Rectangle 2">
            <a:extLst>
              <a:ext uri="{FF2B5EF4-FFF2-40B4-BE49-F238E27FC236}">
                <a16:creationId xmlns:a16="http://schemas.microsoft.com/office/drawing/2014/main" id="{8AF6565A-0295-424D-822C-7F8B7B49E429}"/>
              </a:ext>
            </a:extLst>
          </p:cNvPr>
          <p:cNvSpPr/>
          <p:nvPr/>
        </p:nvSpPr>
        <p:spPr>
          <a:xfrm>
            <a:off x="1035646" y="963296"/>
            <a:ext cx="6772117" cy="646331"/>
          </a:xfrm>
          <a:prstGeom prst="rect">
            <a:avLst/>
          </a:prstGeom>
        </p:spPr>
        <p:txBody>
          <a:bodyPr wrap="square">
            <a:spAutoFit/>
          </a:bodyPr>
          <a:lstStyle/>
          <a:p>
            <a:r>
              <a:rPr lang="en-US" b="1" dirty="0"/>
              <a:t>indexing</a:t>
            </a:r>
            <a:r>
              <a:rPr lang="en-US" dirty="0"/>
              <a:t> is used to access individual elements of a sequence such as a string, list, tuple, or other ordered collections.</a:t>
            </a:r>
          </a:p>
        </p:txBody>
      </p:sp>
      <p:sp>
        <p:nvSpPr>
          <p:cNvPr id="4" name="Rectangle 3">
            <a:extLst>
              <a:ext uri="{FF2B5EF4-FFF2-40B4-BE49-F238E27FC236}">
                <a16:creationId xmlns:a16="http://schemas.microsoft.com/office/drawing/2014/main" id="{FE116FE4-C62E-413E-ABAF-9EA9BEE365BE}"/>
              </a:ext>
            </a:extLst>
          </p:cNvPr>
          <p:cNvSpPr/>
          <p:nvPr/>
        </p:nvSpPr>
        <p:spPr>
          <a:xfrm>
            <a:off x="648208" y="2023345"/>
            <a:ext cx="1987339" cy="369332"/>
          </a:xfrm>
          <a:prstGeom prst="rect">
            <a:avLst/>
          </a:prstGeom>
        </p:spPr>
        <p:txBody>
          <a:bodyPr wrap="none">
            <a:spAutoFit/>
          </a:bodyPr>
          <a:lstStyle/>
          <a:p>
            <a:r>
              <a:rPr lang="en-US" dirty="0"/>
              <a:t>1. Positive Indexing</a:t>
            </a:r>
          </a:p>
        </p:txBody>
      </p:sp>
      <p:pic>
        <p:nvPicPr>
          <p:cNvPr id="5" name="Image 4">
            <a:extLst>
              <a:ext uri="{FF2B5EF4-FFF2-40B4-BE49-F238E27FC236}">
                <a16:creationId xmlns:a16="http://schemas.microsoft.com/office/drawing/2014/main" id="{9A7F6F49-09DE-4C37-84EA-20E9580802EC}"/>
              </a:ext>
            </a:extLst>
          </p:cNvPr>
          <p:cNvPicPr>
            <a:picLocks noChangeAspect="1"/>
          </p:cNvPicPr>
          <p:nvPr/>
        </p:nvPicPr>
        <p:blipFill>
          <a:blip r:embed="rId2"/>
          <a:stretch>
            <a:fillRect/>
          </a:stretch>
        </p:blipFill>
        <p:spPr>
          <a:xfrm>
            <a:off x="1096075" y="2571750"/>
            <a:ext cx="1869215" cy="1591678"/>
          </a:xfrm>
          <a:prstGeom prst="rect">
            <a:avLst/>
          </a:prstGeom>
        </p:spPr>
      </p:pic>
      <p:sp>
        <p:nvSpPr>
          <p:cNvPr id="6" name="Rectangle 5">
            <a:extLst>
              <a:ext uri="{FF2B5EF4-FFF2-40B4-BE49-F238E27FC236}">
                <a16:creationId xmlns:a16="http://schemas.microsoft.com/office/drawing/2014/main" id="{20E82D5A-29E3-4C95-86A7-93F597558B99}"/>
              </a:ext>
            </a:extLst>
          </p:cNvPr>
          <p:cNvSpPr/>
          <p:nvPr/>
        </p:nvSpPr>
        <p:spPr>
          <a:xfrm>
            <a:off x="3159942" y="1995605"/>
            <a:ext cx="2086533" cy="369332"/>
          </a:xfrm>
          <a:prstGeom prst="rect">
            <a:avLst/>
          </a:prstGeom>
        </p:spPr>
        <p:txBody>
          <a:bodyPr wrap="none">
            <a:spAutoFit/>
          </a:bodyPr>
          <a:lstStyle/>
          <a:p>
            <a:r>
              <a:rPr lang="en-US" dirty="0"/>
              <a:t>2. Negative Indexing</a:t>
            </a:r>
          </a:p>
        </p:txBody>
      </p:sp>
      <p:pic>
        <p:nvPicPr>
          <p:cNvPr id="7" name="Image 6">
            <a:extLst>
              <a:ext uri="{FF2B5EF4-FFF2-40B4-BE49-F238E27FC236}">
                <a16:creationId xmlns:a16="http://schemas.microsoft.com/office/drawing/2014/main" id="{FB10E2D4-ED48-42E2-8D5B-1C69C13D9153}"/>
              </a:ext>
            </a:extLst>
          </p:cNvPr>
          <p:cNvPicPr>
            <a:picLocks noChangeAspect="1"/>
          </p:cNvPicPr>
          <p:nvPr/>
        </p:nvPicPr>
        <p:blipFill>
          <a:blip r:embed="rId3"/>
          <a:stretch>
            <a:fillRect/>
          </a:stretch>
        </p:blipFill>
        <p:spPr>
          <a:xfrm>
            <a:off x="3522052" y="2571750"/>
            <a:ext cx="2021975" cy="1591678"/>
          </a:xfrm>
          <a:prstGeom prst="rect">
            <a:avLst/>
          </a:prstGeom>
        </p:spPr>
      </p:pic>
      <p:sp>
        <p:nvSpPr>
          <p:cNvPr id="8" name="Rectangle 7">
            <a:extLst>
              <a:ext uri="{FF2B5EF4-FFF2-40B4-BE49-F238E27FC236}">
                <a16:creationId xmlns:a16="http://schemas.microsoft.com/office/drawing/2014/main" id="{255CF6B4-B4BC-4DED-A486-7D71546D8370}"/>
              </a:ext>
            </a:extLst>
          </p:cNvPr>
          <p:cNvSpPr/>
          <p:nvPr/>
        </p:nvSpPr>
        <p:spPr>
          <a:xfrm>
            <a:off x="5938874" y="1995605"/>
            <a:ext cx="2217145" cy="369332"/>
          </a:xfrm>
          <a:prstGeom prst="rect">
            <a:avLst/>
          </a:prstGeom>
        </p:spPr>
        <p:txBody>
          <a:bodyPr wrap="none">
            <a:spAutoFit/>
          </a:bodyPr>
          <a:lstStyle/>
          <a:p>
            <a:r>
              <a:rPr lang="en-US" dirty="0"/>
              <a:t>3. Slicing (important!)</a:t>
            </a:r>
          </a:p>
        </p:txBody>
      </p:sp>
      <p:pic>
        <p:nvPicPr>
          <p:cNvPr id="9" name="Image 8">
            <a:extLst>
              <a:ext uri="{FF2B5EF4-FFF2-40B4-BE49-F238E27FC236}">
                <a16:creationId xmlns:a16="http://schemas.microsoft.com/office/drawing/2014/main" id="{31220279-FFFC-4CEF-A5F3-1CC9AC7BCB22}"/>
              </a:ext>
            </a:extLst>
          </p:cNvPr>
          <p:cNvPicPr>
            <a:picLocks noChangeAspect="1"/>
          </p:cNvPicPr>
          <p:nvPr/>
        </p:nvPicPr>
        <p:blipFill>
          <a:blip r:embed="rId4"/>
          <a:stretch>
            <a:fillRect/>
          </a:stretch>
        </p:blipFill>
        <p:spPr>
          <a:xfrm>
            <a:off x="6277354" y="2571750"/>
            <a:ext cx="2800494" cy="1581231"/>
          </a:xfrm>
          <a:prstGeom prst="rect">
            <a:avLst/>
          </a:prstGeom>
        </p:spPr>
      </p:pic>
    </p:spTree>
    <p:extLst>
      <p:ext uri="{BB962C8B-B14F-4D97-AF65-F5344CB8AC3E}">
        <p14:creationId xmlns:p14="http://schemas.microsoft.com/office/powerpoint/2010/main" val="2627685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DC2A88C8-389D-4EA7-8468-465A0F8DDE60}"/>
              </a:ext>
            </a:extLst>
          </p:cNvPr>
          <p:cNvSpPr txBox="1"/>
          <p:nvPr/>
        </p:nvSpPr>
        <p:spPr>
          <a:xfrm>
            <a:off x="5589917" y="960408"/>
            <a:ext cx="45719" cy="369332"/>
          </a:xfrm>
          <a:prstGeom prst="rect">
            <a:avLst/>
          </a:prstGeom>
          <a:noFill/>
        </p:spPr>
        <p:txBody>
          <a:bodyPr wrap="square" rtlCol="0">
            <a:spAutoFit/>
          </a:bodyPr>
          <a:lstStyle/>
          <a:p>
            <a:endParaRPr lang="en-US" dirty="0"/>
          </a:p>
        </p:txBody>
      </p:sp>
      <p:sp>
        <p:nvSpPr>
          <p:cNvPr id="4" name="Rectangle 1">
            <a:extLst>
              <a:ext uri="{FF2B5EF4-FFF2-40B4-BE49-F238E27FC236}">
                <a16:creationId xmlns:a16="http://schemas.microsoft.com/office/drawing/2014/main" id="{61B820D4-94B2-41BB-9583-FA0A4E0B19EE}"/>
              </a:ext>
            </a:extLst>
          </p:cNvPr>
          <p:cNvSpPr>
            <a:spLocks noChangeArrowheads="1"/>
          </p:cNvSpPr>
          <p:nvPr/>
        </p:nvSpPr>
        <p:spPr bwMode="auto">
          <a:xfrm>
            <a:off x="393539" y="78761"/>
            <a:ext cx="8524755"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F1F1F"/>
                </a:solidFill>
                <a:effectLst/>
                <a:latin typeface="Google Sans Text"/>
                <a:cs typeface="Arial" panose="020B0604020202020204" pitchFamily="34" charset="0"/>
              </a:rPr>
              <a:t> </a:t>
            </a:r>
            <a:endParaRPr kumimoji="0" lang="ar-SA" altLang="en-US" b="1" i="0" u="none" strike="noStrike" cap="none" normalizeH="0" baseline="0" dirty="0">
              <a:ln>
                <a:noFill/>
              </a:ln>
              <a:solidFill>
                <a:srgbClr val="1F1F1F"/>
              </a:solidFill>
              <a:effectLst/>
              <a:latin typeface="Google Sans"/>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b="1" i="0" u="none" strike="noStrike" cap="none" normalizeH="0" baseline="0" dirty="0">
                <a:ln>
                  <a:noFill/>
                </a:ln>
                <a:solidFill>
                  <a:srgbClr val="1F1F1F"/>
                </a:solidFill>
                <a:effectLst/>
                <a:latin typeface="Google Sans"/>
                <a:cs typeface="Arial" panose="020B0604020202020204" pitchFamily="34" charset="0"/>
              </a:rPr>
              <a:t>التمرين 1: منشئ البريد الإلكتروني الأكاديمي </a:t>
            </a:r>
            <a:r>
              <a:rPr kumimoji="0" lang="en-US" altLang="en-US" b="1" i="0" u="none" strike="noStrike" cap="none" normalizeH="0" baseline="0" dirty="0">
                <a:ln>
                  <a:noFill/>
                </a:ln>
                <a:solidFill>
                  <a:srgbClr val="1F1F1F"/>
                </a:solidFill>
                <a:effectLst/>
                <a:latin typeface="Google Sans"/>
                <a:cs typeface="Arial" panose="020B0604020202020204" pitchFamily="34" charset="0"/>
              </a:rPr>
              <a:t> </a:t>
            </a:r>
            <a:endParaRPr kumimoji="0" lang="ar-SA" altLang="en-US" b="1" i="0" u="none" strike="noStrike" cap="none" normalizeH="0" baseline="0" dirty="0">
              <a:ln>
                <a:noFill/>
              </a:ln>
              <a:solidFill>
                <a:srgbClr val="1F1F1F"/>
              </a:solidFill>
              <a:effectLst/>
              <a:latin typeface="Google Sans"/>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نص التمرين:</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اكتب برنامجاً يطلب من الطالب إدخال </a:t>
            </a: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اسمه الأول</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و</a:t>
            </a: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لقبه</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يقوم البرنامج بإنشاء بريد إلكتروني مدرسي تلقائي بالصيغة التالية: </a:t>
            </a:r>
            <a:r>
              <a:rPr kumimoji="0" lang="en-US" altLang="en-US" b="0" i="0" u="none" strike="noStrike" cap="none" normalizeH="0" baseline="0" dirty="0">
                <a:ln>
                  <a:noFill/>
                </a:ln>
                <a:solidFill>
                  <a:srgbClr val="1F1F1F"/>
                </a:solidFill>
                <a:effectLst/>
                <a:latin typeface="Google Sans Text"/>
                <a:cs typeface="Arial" panose="020B0604020202020204" pitchFamily="34" charset="0"/>
              </a:rPr>
              <a:t>firstname.lastname@school.com</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يجب أن تكون كل الحروف </a:t>
            </a: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صغيرة (</a:t>
            </a:r>
            <a:r>
              <a:rPr kumimoji="0" lang="en-US" altLang="en-US" b="1" i="0" u="none" strike="noStrike" cap="none" normalizeH="0" baseline="0" dirty="0">
                <a:ln>
                  <a:noFill/>
                </a:ln>
                <a:solidFill>
                  <a:srgbClr val="1F1F1F"/>
                </a:solidFill>
                <a:effectLst/>
                <a:latin typeface="Google Sans Text"/>
                <a:cs typeface="Arial" panose="020B0604020202020204" pitchFamily="34" charset="0"/>
              </a:rPr>
              <a:t>Lowercase</a:t>
            </a: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مع إزالة أي فراغات زائدة قد يدخلها الطالب بالخطأ.</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مثال للمدخلات:</a:t>
            </a:r>
            <a:endParaRPr kumimoji="0" lang="ar-SA" altLang="en-US" b="0" i="0" u="none" strike="noStrike" cap="none" normalizeH="0" baseline="0" dirty="0">
              <a:ln>
                <a:noFill/>
              </a:ln>
              <a:solidFill>
                <a:srgbClr val="1F1F1F"/>
              </a:solidFill>
              <a:effectLst/>
              <a:latin typeface="Google Sans Text"/>
              <a:cs typeface="Arial" panose="020B0604020202020204" pitchFamily="34" charset="0"/>
            </a:endParaRPr>
          </a:p>
          <a:p>
            <a:pPr marL="457200" marR="0" lvl="1" indent="0" algn="r" defTabSz="914400" rtl="1" eaLnBrk="0" fontAlgn="base" latinLnBrk="0" hangingPunct="0">
              <a:lnSpc>
                <a:spcPct val="100000"/>
              </a:lnSpc>
              <a:spcBef>
                <a:spcPct val="0"/>
              </a:spcBef>
              <a:spcAft>
                <a:spcPct val="0"/>
              </a:spcAft>
              <a:buClrTx/>
              <a:buSzTx/>
              <a:buFontTx/>
              <a:buChar char="•"/>
              <a:tabLst/>
            </a:pP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الاسم الأول: </a:t>
            </a:r>
            <a:r>
              <a:rPr kumimoji="0" lang="en-US" altLang="en-US" b="0" i="0" u="none" strike="noStrike" cap="none" normalizeH="0" baseline="0" dirty="0" err="1">
                <a:ln>
                  <a:noFill/>
                </a:ln>
                <a:solidFill>
                  <a:srgbClr val="1F1F1F"/>
                </a:solidFill>
                <a:effectLst/>
                <a:latin typeface="Google Sans Text"/>
                <a:cs typeface="Arial" panose="020B0604020202020204" pitchFamily="34" charset="0"/>
              </a:rPr>
              <a:t>ecole</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a:t>
            </a:r>
            <a:r>
              <a:rPr kumimoji="0" lang="en-US" altLang="en-US" b="0" i="0" u="none" strike="noStrike" cap="none" normalizeH="0" baseline="0" dirty="0">
                <a:ln>
                  <a:noFill/>
                </a:ln>
                <a:solidFill>
                  <a:srgbClr val="1F1F1F"/>
                </a:solidFill>
                <a:effectLst/>
                <a:latin typeface="Google Sans Text"/>
                <a:cs typeface="Arial" panose="020B0604020202020204" pitchFamily="34" charset="0"/>
              </a:rPr>
              <a:t> </a:t>
            </a:r>
            <a:endParaRPr kumimoji="0" lang="ar-SA" altLang="en-US" b="0" i="0" u="none" strike="noStrike" cap="none" normalizeH="0" baseline="0" dirty="0">
              <a:ln>
                <a:noFill/>
              </a:ln>
              <a:solidFill>
                <a:srgbClr val="1F1F1F"/>
              </a:solidFill>
              <a:effectLst/>
              <a:latin typeface="Google Sans Text"/>
              <a:cs typeface="Arial" panose="020B0604020202020204" pitchFamily="34" charset="0"/>
            </a:endParaRPr>
          </a:p>
          <a:p>
            <a:pPr marL="457200" marR="0" lvl="1" indent="0" algn="r" defTabSz="914400" rtl="1" eaLnBrk="0" fontAlgn="base" latinLnBrk="0" hangingPunct="0">
              <a:lnSpc>
                <a:spcPct val="100000"/>
              </a:lnSpc>
              <a:spcBef>
                <a:spcPct val="0"/>
              </a:spcBef>
              <a:spcAft>
                <a:spcPct val="0"/>
              </a:spcAft>
              <a:buClrTx/>
              <a:buSzTx/>
              <a:buFontTx/>
              <a:buChar char="•"/>
              <a:tabLst/>
            </a:pP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اللقب: </a:t>
            </a:r>
            <a:r>
              <a:rPr kumimoji="0" lang="en-US" altLang="en-US" b="0" i="0" u="none" strike="noStrike" cap="none" normalizeH="0" baseline="0" dirty="0" err="1">
                <a:ln>
                  <a:noFill/>
                </a:ln>
                <a:solidFill>
                  <a:srgbClr val="1F1F1F"/>
                </a:solidFill>
                <a:effectLst/>
                <a:latin typeface="Google Sans Text"/>
                <a:cs typeface="Arial" panose="020B0604020202020204" pitchFamily="34" charset="0"/>
              </a:rPr>
              <a:t>elmounir</a:t>
            </a:r>
            <a:endParaRPr kumimoji="0" lang="ar-SA" altLang="en-US" b="0" i="0" u="none" strike="noStrike" cap="none" normalizeH="0" baseline="0" dirty="0">
              <a:ln>
                <a:noFill/>
              </a:ln>
              <a:solidFill>
                <a:srgbClr val="1F1F1F"/>
              </a:solidFill>
              <a:effectLst/>
              <a:latin typeface="Google Sans Text"/>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المخرج المتوقع:</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a:t>
            </a:r>
            <a:r>
              <a:rPr kumimoji="0" lang="en-US" altLang="en-US" b="0" i="0" u="none" strike="noStrike" cap="none" normalizeH="0" baseline="0" dirty="0">
                <a:ln>
                  <a:noFill/>
                </a:ln>
                <a:solidFill>
                  <a:srgbClr val="1F1F1F"/>
                </a:solidFill>
                <a:effectLst/>
                <a:latin typeface="Google Sans Text"/>
                <a:cs typeface="Arial" panose="020B0604020202020204" pitchFamily="34" charset="0"/>
              </a:rPr>
              <a:t>Ecole.Elmounir@school.com</a:t>
            </a:r>
            <a:endParaRPr kumimoji="0" lang="ar-SA" altLang="en-US" b="0" i="0" u="none" strike="noStrike" cap="none" normalizeH="0" baseline="0" dirty="0">
              <a:ln>
                <a:noFill/>
              </a:ln>
              <a:solidFill>
                <a:srgbClr val="1F1F1F"/>
              </a:solidFill>
              <a:effectLst/>
              <a:latin typeface="Google Sans Text"/>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ar-SA" altLang="en-US" b="1" i="0" u="none" strike="noStrike" cap="none" normalizeH="0" baseline="0" dirty="0">
              <a:ln>
                <a:noFill/>
              </a:ln>
              <a:solidFill>
                <a:srgbClr val="1F1F1F"/>
              </a:solidFill>
              <a:effectLst/>
              <a:latin typeface="Google Sans"/>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b="1" i="0" u="none" strike="noStrike" cap="none" normalizeH="0" baseline="0" dirty="0">
                <a:ln>
                  <a:noFill/>
                </a:ln>
                <a:solidFill>
                  <a:srgbClr val="1F1F1F"/>
                </a:solidFill>
                <a:effectLst/>
                <a:latin typeface="Google Sans"/>
                <a:cs typeface="Arial" panose="020B0604020202020204" pitchFamily="34" charset="0"/>
              </a:rPr>
              <a:t>التمرين 2: مشفر الكلمة السرية </a:t>
            </a:r>
            <a:r>
              <a:rPr kumimoji="0" lang="en-US" altLang="en-US" b="1" i="0" u="none" strike="noStrike" cap="none" normalizeH="0" baseline="0" dirty="0">
                <a:ln>
                  <a:noFill/>
                </a:ln>
                <a:solidFill>
                  <a:srgbClr val="1F1F1F"/>
                </a:solidFill>
                <a:effectLst/>
                <a:latin typeface="Google Sans"/>
                <a:cs typeface="Arial" panose="020B0604020202020204" pitchFamily="34" charset="0"/>
              </a:rPr>
              <a:t> </a:t>
            </a:r>
            <a:endParaRPr kumimoji="0" lang="ar-SA" altLang="en-US" b="1" i="0" u="none" strike="noStrike" cap="none" normalizeH="0" baseline="0" dirty="0">
              <a:ln>
                <a:noFill/>
              </a:ln>
              <a:solidFill>
                <a:srgbClr val="1F1F1F"/>
              </a:solidFill>
              <a:effectLst/>
              <a:latin typeface="Google Sans"/>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نص التمرين:</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اكتب برنامجاً يطلب من المستخدم إدخال جملة سرية. يقوم البرنامج بتحويل الجملة بالكامل إلى </a:t>
            </a: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حروف كبيرة</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ثم يقوم باستبدال بعض الحروف (مثل حرف </a:t>
            </a:r>
            <a:r>
              <a:rPr kumimoji="0" lang="en-US" altLang="en-US" b="0" i="0" u="none" strike="noStrike" cap="none" normalizeH="0" baseline="0" dirty="0">
                <a:ln>
                  <a:noFill/>
                </a:ln>
                <a:solidFill>
                  <a:srgbClr val="1F1F1F"/>
                </a:solidFill>
                <a:effectLst/>
                <a:latin typeface="Google Sans Text"/>
                <a:cs typeface="Arial" panose="020B0604020202020204" pitchFamily="34" charset="0"/>
              </a:rPr>
              <a:t>A</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أو </a:t>
            </a:r>
            <a:r>
              <a:rPr kumimoji="0" lang="en-US" altLang="en-US" b="0" i="0" u="none" strike="noStrike" cap="none" normalizeH="0" baseline="0" dirty="0">
                <a:ln>
                  <a:noFill/>
                </a:ln>
                <a:solidFill>
                  <a:srgbClr val="1F1F1F"/>
                </a:solidFill>
                <a:effectLst/>
                <a:latin typeface="Google Sans Text"/>
                <a:cs typeface="Arial" panose="020B0604020202020204" pitchFamily="34" charset="0"/>
              </a:rPr>
              <a:t>E</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أو </a:t>
            </a:r>
            <a:r>
              <a:rPr kumimoji="0" lang="en-US" altLang="en-US" b="0" i="0" u="none" strike="noStrike" cap="none" normalizeH="0" baseline="0" dirty="0">
                <a:ln>
                  <a:noFill/>
                </a:ln>
                <a:solidFill>
                  <a:srgbClr val="1F1F1F"/>
                </a:solidFill>
                <a:effectLst/>
                <a:latin typeface="Google Sans Text"/>
                <a:cs typeface="Arial" panose="020B0604020202020204" pitchFamily="34" charset="0"/>
              </a:rPr>
              <a:t>O</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برمز النجمة (*) لإخفاء الرسالة.</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مثال للمدخلات:</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a:t>
            </a:r>
            <a:r>
              <a:rPr kumimoji="0" lang="en-US" altLang="en-US" b="0" i="0" u="none" strike="noStrike" cap="none" normalizeH="0" baseline="0" dirty="0">
                <a:ln>
                  <a:noFill/>
                </a:ln>
                <a:solidFill>
                  <a:srgbClr val="1F1F1F"/>
                </a:solidFill>
                <a:effectLst/>
                <a:latin typeface="Google Sans Text"/>
                <a:cs typeface="Arial" panose="020B0604020202020204" pitchFamily="34" charset="0"/>
              </a:rPr>
              <a:t>robotics is fun</a:t>
            </a:r>
            <a:endParaRPr kumimoji="0" lang="ar-SA" altLang="en-US" b="0" i="0" u="none" strike="noStrike" cap="none" normalizeH="0" baseline="0" dirty="0">
              <a:ln>
                <a:noFill/>
              </a:ln>
              <a:solidFill>
                <a:srgbClr val="1F1F1F"/>
              </a:solidFill>
              <a:effectLst/>
              <a:latin typeface="Google Sans Text"/>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b="1" i="0" u="none" strike="noStrike" cap="none" normalizeH="0" baseline="0" dirty="0">
                <a:ln>
                  <a:noFill/>
                </a:ln>
                <a:solidFill>
                  <a:srgbClr val="1F1F1F"/>
                </a:solidFill>
                <a:effectLst/>
                <a:latin typeface="Google Sans Text"/>
                <a:cs typeface="Arial" panose="020B0604020202020204" pitchFamily="34" charset="0"/>
              </a:rPr>
              <a:t>المخرج المتوقع:</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a:t>
            </a:r>
            <a:r>
              <a:rPr kumimoji="0" lang="en-US" altLang="en-US" b="0" i="0" u="none" strike="noStrike" cap="none" normalizeH="0" baseline="0" dirty="0">
                <a:ln>
                  <a:noFill/>
                </a:ln>
                <a:solidFill>
                  <a:srgbClr val="1F1F1F"/>
                </a:solidFill>
                <a:effectLst/>
                <a:latin typeface="Google Sans Text"/>
                <a:cs typeface="Arial" panose="020B0604020202020204" pitchFamily="34" charset="0"/>
              </a:rPr>
              <a:t>R*B*TICS IS FUN</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(في حال استبدال حرف </a:t>
            </a:r>
            <a:r>
              <a:rPr kumimoji="0" lang="en-US" altLang="en-US" b="0" i="0" u="none" strike="noStrike" cap="none" normalizeH="0" baseline="0" dirty="0">
                <a:ln>
                  <a:noFill/>
                </a:ln>
                <a:solidFill>
                  <a:srgbClr val="1F1F1F"/>
                </a:solidFill>
                <a:effectLst/>
                <a:latin typeface="Google Sans Text"/>
                <a:cs typeface="Arial" panose="020B0604020202020204" pitchFamily="34" charset="0"/>
              </a:rPr>
              <a:t>O</a:t>
            </a:r>
            <a:r>
              <a:rPr kumimoji="0" lang="ar-SA" altLang="en-US" b="0" i="0" u="none" strike="noStrike" cap="none" normalizeH="0" baseline="0" dirty="0">
                <a:ln>
                  <a:noFill/>
                </a:ln>
                <a:solidFill>
                  <a:srgbClr val="1F1F1F"/>
                </a:solidFill>
                <a:effectLst/>
                <a:latin typeface="Google Sans Text"/>
                <a:cs typeface="Arial" panose="020B0604020202020204" pitchFamily="34" charset="0"/>
              </a:rPr>
              <a:t> مثلاً)</a:t>
            </a:r>
          </a:p>
          <a:p>
            <a:pPr marL="0" marR="0" lvl="0" indent="0" algn="r" defTabSz="914400" rtl="1" eaLnBrk="0" fontAlgn="base" latinLnBrk="0" hangingPunct="0">
              <a:lnSpc>
                <a:spcPct val="100000"/>
              </a:lnSpc>
              <a:spcBef>
                <a:spcPct val="0"/>
              </a:spcBef>
              <a:spcAft>
                <a:spcPct val="0"/>
              </a:spcAft>
              <a:buClrTx/>
              <a:buSzTx/>
              <a:buFontTx/>
              <a:buChar char="•"/>
              <a:tabLst/>
            </a:pPr>
            <a:endParaRPr kumimoji="0" lang="en-US" altLang="en-US" b="1" i="0" u="none" strike="noStrike" cap="none" normalizeH="0" baseline="0" dirty="0">
              <a:ln>
                <a:noFill/>
              </a:ln>
              <a:solidFill>
                <a:srgbClr val="1F1F1F"/>
              </a:solidFill>
              <a:effectLst/>
              <a:latin typeface="Google Sans Text"/>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1F1F1F"/>
                </a:solidFill>
                <a:effectLst/>
                <a:latin typeface="Google Sans"/>
                <a:cs typeface="Arial" panose="020B0604020202020204" pitchFamily="34" charset="0"/>
              </a:rPr>
              <a:t> </a:t>
            </a:r>
            <a:endParaRPr kumimoji="0" lang="ar-SA" altLang="en-US" b="0" i="0" u="none" strike="noStrike" cap="none" normalizeH="0" baseline="0" dirty="0">
              <a:ln>
                <a:noFill/>
              </a:ln>
              <a:solidFill>
                <a:srgbClr val="1F1F1F"/>
              </a:solidFill>
              <a:effectLst/>
              <a:latin typeface="Google Sans Text"/>
              <a:cs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kumimoji="0" lang="ar-SA" alt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2524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5261E4-2C95-466F-8B98-4EDDC6DD7CE4}"/>
              </a:ext>
            </a:extLst>
          </p:cNvPr>
          <p:cNvSpPr>
            <a:spLocks noChangeArrowheads="1"/>
          </p:cNvSpPr>
          <p:nvPr/>
        </p:nvSpPr>
        <p:spPr bwMode="auto">
          <a:xfrm>
            <a:off x="277792" y="201870"/>
            <a:ext cx="8588415" cy="4739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1400" b="1" i="0" u="none" strike="noStrike" cap="none" normalizeH="0" baseline="0" dirty="0">
                <a:ln>
                  <a:noFill/>
                </a:ln>
                <a:solidFill>
                  <a:srgbClr val="1F1F1F"/>
                </a:solidFill>
                <a:effectLst/>
                <a:latin typeface="Google Sans"/>
                <a:cs typeface="Arial" panose="020B0604020202020204" pitchFamily="34" charset="0"/>
              </a:rPr>
              <a:t>التمرين 3: مكبر الصوت وعداد الحروف </a:t>
            </a:r>
            <a:r>
              <a:rPr kumimoji="0" lang="en-US" altLang="en-US" sz="1400" b="1" i="0" u="none" strike="noStrike" cap="none" normalizeH="0" baseline="0" dirty="0">
                <a:ln>
                  <a:noFill/>
                </a:ln>
                <a:solidFill>
                  <a:srgbClr val="1F1F1F"/>
                </a:solidFill>
                <a:effectLst/>
                <a:latin typeface="Google Sans"/>
                <a:cs typeface="Arial" panose="020B0604020202020204" pitchFamily="34" charset="0"/>
              </a:rPr>
              <a:t> </a:t>
            </a:r>
            <a:endParaRPr kumimoji="0" lang="ar-SA" altLang="en-US" sz="1400" b="1" i="0" u="none" strike="noStrike" cap="none" normalizeH="0" baseline="0" dirty="0">
              <a:ln>
                <a:noFill/>
              </a:ln>
              <a:solidFill>
                <a:srgbClr val="1F1F1F"/>
              </a:solidFill>
              <a:effectLst/>
              <a:latin typeface="Google Sans"/>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400" b="1" i="0" u="none" strike="noStrike" cap="none" normalizeH="0" baseline="0" dirty="0">
                <a:ln>
                  <a:noFill/>
                </a:ln>
                <a:solidFill>
                  <a:srgbClr val="1F1F1F"/>
                </a:solidFill>
                <a:effectLst/>
                <a:latin typeface="Google Sans Text"/>
                <a:cs typeface="Arial" panose="020B0604020202020204" pitchFamily="34" charset="0"/>
              </a:rPr>
              <a:t>نص التمرين:</a:t>
            </a: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 اكتب برنامجاً يطلب من المستخدم كتابة رسالة قصيرة. يقوم البرنامج بطباعة الرسالة بشكل "صاخب" (بحروف كبيرة كاملة)، ثم يطبع رسالة أخرى تخبر المستخدم بعدد الحروف والمسافات التي تحتوي عليها رسالته.</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400" b="1" i="0" u="none" strike="noStrike" cap="none" normalizeH="0" baseline="0" dirty="0">
                <a:ln>
                  <a:noFill/>
                </a:ln>
                <a:solidFill>
                  <a:srgbClr val="1F1F1F"/>
                </a:solidFill>
                <a:effectLst/>
                <a:latin typeface="Google Sans Text"/>
                <a:cs typeface="Arial" panose="020B0604020202020204" pitchFamily="34" charset="0"/>
              </a:rPr>
              <a:t>مثال للمدخلات:</a:t>
            </a: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 </a:t>
            </a:r>
            <a:r>
              <a:rPr kumimoji="0" lang="en-US" altLang="en-US" sz="1400" b="0" i="0" u="none" strike="noStrike" cap="none" normalizeH="0" baseline="0" dirty="0">
                <a:ln>
                  <a:noFill/>
                </a:ln>
                <a:solidFill>
                  <a:srgbClr val="1F1F1F"/>
                </a:solidFill>
                <a:effectLst/>
                <a:latin typeface="Google Sans Text"/>
                <a:cs typeface="Arial" panose="020B0604020202020204" pitchFamily="34" charset="0"/>
              </a:rPr>
              <a:t>hello python</a:t>
            </a:r>
            <a:endParaRPr kumimoji="0" lang="ar-SA" altLang="en-US" sz="1400" b="0" i="0" u="none" strike="noStrike" cap="none" normalizeH="0" baseline="0" dirty="0">
              <a:ln>
                <a:noFill/>
              </a:ln>
              <a:solidFill>
                <a:srgbClr val="1F1F1F"/>
              </a:solidFill>
              <a:effectLst/>
              <a:latin typeface="Google Sans Text"/>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400" b="1" i="0" u="none" strike="noStrike" cap="none" normalizeH="0" baseline="0" dirty="0">
                <a:ln>
                  <a:noFill/>
                </a:ln>
                <a:solidFill>
                  <a:srgbClr val="1F1F1F"/>
                </a:solidFill>
                <a:effectLst/>
                <a:latin typeface="Google Sans Text"/>
                <a:cs typeface="Arial" panose="020B0604020202020204" pitchFamily="34" charset="0"/>
              </a:rPr>
              <a:t>المخرج المتوقع:</a:t>
            </a:r>
            <a:endParaRPr kumimoji="0" lang="ar-SA" altLang="en-US" sz="1400" b="0" i="0" u="none" strike="noStrike" cap="none" normalizeH="0" baseline="0" dirty="0">
              <a:ln>
                <a:noFill/>
              </a:ln>
              <a:solidFill>
                <a:srgbClr val="1F1F1F"/>
              </a:solidFill>
              <a:effectLst/>
              <a:latin typeface="Google Sans Text"/>
              <a:cs typeface="Arial" panose="020B0604020202020204" pitchFamily="34" charset="0"/>
            </a:endParaRPr>
          </a:p>
          <a:p>
            <a:pPr marL="457200" marR="0" lvl="1" indent="0" algn="r" defTabSz="914400" rtl="1"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rgbClr val="1F1F1F"/>
                </a:solidFill>
                <a:effectLst/>
                <a:latin typeface="Google Sans Text"/>
                <a:cs typeface="Arial" panose="020B0604020202020204" pitchFamily="34" charset="0"/>
              </a:rPr>
              <a:t>HELLO PYTHON</a:t>
            </a:r>
            <a:endParaRPr kumimoji="0" lang="ar-SA" altLang="en-US" sz="1400" b="0" i="0" u="none" strike="noStrike" cap="none" normalizeH="0" baseline="0" dirty="0">
              <a:ln>
                <a:noFill/>
              </a:ln>
              <a:solidFill>
                <a:srgbClr val="1F1F1F"/>
              </a:solidFill>
              <a:effectLst/>
              <a:latin typeface="Google Sans Text"/>
              <a:cs typeface="Arial" panose="020B0604020202020204" pitchFamily="34" charset="0"/>
            </a:endParaRPr>
          </a:p>
          <a:p>
            <a:pPr marL="457200" marR="0" lvl="1" indent="0" algn="r" defTabSz="914400" rtl="1" eaLnBrk="0" fontAlgn="base" latinLnBrk="0" hangingPunct="0">
              <a:lnSpc>
                <a:spcPct val="100000"/>
              </a:lnSpc>
              <a:spcBef>
                <a:spcPct val="0"/>
              </a:spcBef>
              <a:spcAft>
                <a:spcPct val="0"/>
              </a:spcAft>
              <a:buClrTx/>
              <a:buSzTx/>
              <a:buFontTx/>
              <a:buChar char="•"/>
              <a:tabLst/>
            </a:pP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عدد حروف رسالتك هو: 12 حرفاً.</a:t>
            </a:r>
          </a:p>
          <a:p>
            <a:pPr marL="0" marR="0" lvl="0" indent="0" algn="r" defTabSz="914400" rtl="1" eaLnBrk="0" fontAlgn="base" latinLnBrk="0" hangingPunct="0">
              <a:lnSpc>
                <a:spcPct val="100000"/>
              </a:lnSpc>
              <a:spcBef>
                <a:spcPct val="0"/>
              </a:spcBef>
              <a:spcAft>
                <a:spcPct val="0"/>
              </a:spcAft>
              <a:buClrTx/>
              <a:buSzTx/>
              <a:buFontTx/>
              <a:buNone/>
              <a:tabLst/>
            </a:pPr>
            <a:endParaRPr kumimoji="0" lang="ar-SA" altLang="en-US" sz="1400" b="1" i="0" u="none" strike="noStrike" cap="none" normalizeH="0" baseline="0" dirty="0">
              <a:ln>
                <a:noFill/>
              </a:ln>
              <a:solidFill>
                <a:srgbClr val="1F1F1F"/>
              </a:solidFill>
              <a:effectLst/>
              <a:latin typeface="Google Sans"/>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1400" b="1" i="0" u="none" strike="noStrike" cap="none" normalizeH="0" baseline="0" dirty="0">
                <a:ln>
                  <a:noFill/>
                </a:ln>
                <a:solidFill>
                  <a:srgbClr val="1F1F1F"/>
                </a:solidFill>
                <a:effectLst/>
                <a:latin typeface="Google Sans"/>
                <a:cs typeface="Arial" panose="020B0604020202020204" pitchFamily="34" charset="0"/>
              </a:rPr>
              <a:t>التمرين 4: مصلح الأسماء والعناوين </a:t>
            </a:r>
            <a:r>
              <a:rPr kumimoji="0" lang="en-US" altLang="en-US" sz="1400" b="1" i="0" u="none" strike="noStrike" cap="none" normalizeH="0" baseline="0" dirty="0">
                <a:ln>
                  <a:noFill/>
                </a:ln>
                <a:solidFill>
                  <a:srgbClr val="1F1F1F"/>
                </a:solidFill>
                <a:effectLst/>
                <a:latin typeface="Google Sans"/>
                <a:cs typeface="Arial" panose="020B0604020202020204" pitchFamily="34" charset="0"/>
              </a:rPr>
              <a:t> </a:t>
            </a:r>
            <a:endParaRPr kumimoji="0" lang="ar-SA" altLang="en-US" sz="1400" b="1" i="0" u="none" strike="noStrike" cap="none" normalizeH="0" baseline="0" dirty="0">
              <a:ln>
                <a:noFill/>
              </a:ln>
              <a:solidFill>
                <a:srgbClr val="1F1F1F"/>
              </a:solidFill>
              <a:effectLst/>
              <a:latin typeface="Google Sans"/>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400" b="1" i="0" u="none" strike="noStrike" cap="none" normalizeH="0" baseline="0" dirty="0">
                <a:ln>
                  <a:noFill/>
                </a:ln>
                <a:solidFill>
                  <a:srgbClr val="1F1F1F"/>
                </a:solidFill>
                <a:effectLst/>
                <a:latin typeface="Google Sans Text"/>
                <a:cs typeface="Arial" panose="020B0604020202020204" pitchFamily="34" charset="0"/>
              </a:rPr>
              <a:t>نص التمرين:</a:t>
            </a: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 أحياناً يكتب المستخدمون أسماءهم بدون اهتمام بالقواعد (مثل</a:t>
            </a:r>
            <a:r>
              <a:rPr kumimoji="0" lang="en-US" altLang="en-US" sz="1400" b="0" i="0" u="none" strike="noStrike" cap="none" normalizeH="0" baseline="0" dirty="0">
                <a:ln>
                  <a:noFill/>
                </a:ln>
                <a:solidFill>
                  <a:srgbClr val="1F1F1F"/>
                </a:solidFill>
                <a:effectLst/>
                <a:latin typeface="Google Sans Text"/>
                <a:cs typeface="Arial" panose="020B0604020202020204" pitchFamily="34" charset="0"/>
              </a:rPr>
              <a:t> </a:t>
            </a: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 يضعون فراغات قبل الاسم). اكتب برنامجاً يطلب اسم المستخدم، ثم يقوم بمسح الفراغات من الأطراف، ويجعل الحرف الأول فقط كبيراً وباقي الحروف صغيرة بشكل منسق.</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400" b="1" i="0" u="none" strike="noStrike" cap="none" normalizeH="0" baseline="0" dirty="0">
                <a:ln>
                  <a:noFill/>
                </a:ln>
                <a:solidFill>
                  <a:srgbClr val="1F1F1F"/>
                </a:solidFill>
                <a:effectLst/>
                <a:latin typeface="Google Sans Text"/>
                <a:cs typeface="Arial" panose="020B0604020202020204" pitchFamily="34" charset="0"/>
              </a:rPr>
              <a:t>مثال للمدخلات:</a:t>
            </a: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 </a:t>
            </a:r>
            <a:r>
              <a:rPr kumimoji="0" lang="en-US" altLang="en-US" sz="1400" b="0" i="0" u="none" strike="noStrike" cap="none" normalizeH="0" baseline="0" dirty="0" err="1">
                <a:ln>
                  <a:noFill/>
                </a:ln>
                <a:solidFill>
                  <a:srgbClr val="1F1F1F"/>
                </a:solidFill>
                <a:effectLst/>
                <a:latin typeface="Google Sans Text"/>
                <a:cs typeface="Arial" panose="020B0604020202020204" pitchFamily="34" charset="0"/>
              </a:rPr>
              <a:t>aHMeD</a:t>
            </a: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 </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400" b="1" i="0" u="none" strike="noStrike" cap="none" normalizeH="0" baseline="0" dirty="0">
                <a:ln>
                  <a:noFill/>
                </a:ln>
                <a:solidFill>
                  <a:srgbClr val="1F1F1F"/>
                </a:solidFill>
                <a:effectLst/>
                <a:latin typeface="Google Sans Text"/>
                <a:cs typeface="Arial" panose="020B0604020202020204" pitchFamily="34" charset="0"/>
              </a:rPr>
              <a:t>المخرج المتوقع:</a:t>
            </a: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 </a:t>
            </a:r>
            <a:r>
              <a:rPr kumimoji="0" lang="en-US" altLang="en-US" sz="1400" b="0" i="0" u="none" strike="noStrike" cap="none" normalizeH="0" baseline="0" dirty="0">
                <a:ln>
                  <a:noFill/>
                </a:ln>
                <a:solidFill>
                  <a:srgbClr val="1F1F1F"/>
                </a:solidFill>
                <a:effectLst/>
                <a:latin typeface="Google Sans Text"/>
                <a:cs typeface="Arial" panose="020B0604020202020204" pitchFamily="34" charset="0"/>
              </a:rPr>
              <a:t>Ahmed</a:t>
            </a:r>
            <a:endParaRPr kumimoji="0" lang="ar-SA" altLang="en-US" sz="1400" b="0" i="0" u="none" strike="noStrike" cap="none" normalizeH="0" baseline="0" dirty="0">
              <a:ln>
                <a:noFill/>
              </a:ln>
              <a:solidFill>
                <a:srgbClr val="1F1F1F"/>
              </a:solidFill>
              <a:effectLst/>
              <a:latin typeface="Google Sans Text"/>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ar-SA" altLang="en-US" sz="1400" b="1" i="0" u="none" strike="noStrike" cap="none" normalizeH="0" baseline="0" dirty="0">
              <a:ln>
                <a:noFill/>
              </a:ln>
              <a:solidFill>
                <a:srgbClr val="1F1F1F"/>
              </a:solidFill>
              <a:effectLst/>
              <a:latin typeface="Google Sans"/>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1400" b="1" i="0" u="none" strike="noStrike" cap="none" normalizeH="0" baseline="0" dirty="0">
                <a:ln>
                  <a:noFill/>
                </a:ln>
                <a:solidFill>
                  <a:srgbClr val="1F1F1F"/>
                </a:solidFill>
                <a:effectLst/>
                <a:latin typeface="Google Sans"/>
                <a:cs typeface="Arial" panose="020B0604020202020204" pitchFamily="34" charset="0"/>
              </a:rPr>
              <a:t>التمرين 5: الباحث الذكي عن الكلمات </a:t>
            </a:r>
            <a:endParaRPr kumimoji="0" lang="en-US" altLang="en-US" sz="1400" b="1" i="0" u="none" strike="noStrike" cap="none" normalizeH="0" baseline="0" dirty="0">
              <a:ln>
                <a:noFill/>
              </a:ln>
              <a:solidFill>
                <a:srgbClr val="1F1F1F"/>
              </a:solidFill>
              <a:effectLst/>
              <a:latin typeface="Google Sans"/>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1400" b="1" i="0" u="none" strike="noStrike" cap="none" normalizeH="0" baseline="0" dirty="0">
                <a:ln>
                  <a:noFill/>
                </a:ln>
                <a:solidFill>
                  <a:srgbClr val="1F1F1F"/>
                </a:solidFill>
                <a:effectLst/>
                <a:latin typeface="Google Sans Text"/>
                <a:cs typeface="Arial" panose="020B0604020202020204" pitchFamily="34" charset="0"/>
              </a:rPr>
              <a:t>نص التمرين:</a:t>
            </a: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 اكتب برنامجاً يطلب من المستخدم إدخال جملة كاملة، ثم يطلب منه إدخال حرف معين أو كلمة معينة للبحث عنها. يقوم البرنامج بحساب كم مرة تكررت هذه الكلمة داخل الجملة دون التأثر بكون الحروف كبيرة أو صغيرة.</a:t>
            </a: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400" b="1" i="0" u="none" strike="noStrike" cap="none" normalizeH="0" baseline="0" dirty="0">
                <a:ln>
                  <a:noFill/>
                </a:ln>
                <a:solidFill>
                  <a:srgbClr val="1F1F1F"/>
                </a:solidFill>
                <a:effectLst/>
                <a:latin typeface="Google Sans Text"/>
                <a:cs typeface="Arial" panose="020B0604020202020204" pitchFamily="34" charset="0"/>
              </a:rPr>
              <a:t>مثال للمدخلات:</a:t>
            </a:r>
            <a:endParaRPr kumimoji="0" lang="ar-SA" altLang="en-US" sz="1400" b="0" i="0" u="none" strike="noStrike" cap="none" normalizeH="0" baseline="0" dirty="0">
              <a:ln>
                <a:noFill/>
              </a:ln>
              <a:solidFill>
                <a:srgbClr val="1F1F1F"/>
              </a:solidFill>
              <a:effectLst/>
              <a:latin typeface="Google Sans Text"/>
              <a:cs typeface="Arial" panose="020B0604020202020204" pitchFamily="34" charset="0"/>
            </a:endParaRPr>
          </a:p>
          <a:p>
            <a:pPr marL="457200" marR="0" lvl="1" indent="0" algn="r" defTabSz="914400" rtl="1" eaLnBrk="0" fontAlgn="base" latinLnBrk="0" hangingPunct="0">
              <a:lnSpc>
                <a:spcPct val="100000"/>
              </a:lnSpc>
              <a:spcBef>
                <a:spcPct val="0"/>
              </a:spcBef>
              <a:spcAft>
                <a:spcPct val="0"/>
              </a:spcAft>
              <a:buClrTx/>
              <a:buSzTx/>
              <a:buFontTx/>
              <a:buChar char="•"/>
              <a:tabLst/>
            </a:pP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الجملة: </a:t>
            </a:r>
            <a:r>
              <a:rPr kumimoji="0" lang="en-US" altLang="en-US" sz="1400" b="0" i="0" u="none" strike="noStrike" cap="none" normalizeH="0" baseline="0" dirty="0">
                <a:ln>
                  <a:noFill/>
                </a:ln>
                <a:solidFill>
                  <a:srgbClr val="1F1F1F"/>
                </a:solidFill>
                <a:effectLst/>
                <a:latin typeface="Google Sans Text"/>
                <a:cs typeface="Arial" panose="020B0604020202020204" pitchFamily="34" charset="0"/>
              </a:rPr>
              <a:t>Python is great and python is easy</a:t>
            </a:r>
            <a:endParaRPr kumimoji="0" lang="ar-SA" altLang="en-US" sz="1400" b="0" i="0" u="none" strike="noStrike" cap="none" normalizeH="0" baseline="0" dirty="0">
              <a:ln>
                <a:noFill/>
              </a:ln>
              <a:solidFill>
                <a:srgbClr val="1F1F1F"/>
              </a:solidFill>
              <a:effectLst/>
              <a:latin typeface="Google Sans Text"/>
              <a:cs typeface="Arial" panose="020B0604020202020204" pitchFamily="34" charset="0"/>
            </a:endParaRPr>
          </a:p>
          <a:p>
            <a:pPr marL="457200" marR="0" lvl="1" indent="0" algn="r" defTabSz="914400" rtl="1" eaLnBrk="0" fontAlgn="base" latinLnBrk="0" hangingPunct="0">
              <a:lnSpc>
                <a:spcPct val="100000"/>
              </a:lnSpc>
              <a:spcBef>
                <a:spcPct val="0"/>
              </a:spcBef>
              <a:spcAft>
                <a:spcPct val="0"/>
              </a:spcAft>
              <a:buClrTx/>
              <a:buSzTx/>
              <a:buFontTx/>
              <a:buChar char="•"/>
              <a:tabLst/>
            </a:pP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كلمة البحث: </a:t>
            </a:r>
            <a:r>
              <a:rPr kumimoji="0" lang="en-US" altLang="en-US" sz="1400" b="0" i="0" u="none" strike="noStrike" cap="none" normalizeH="0" baseline="0" dirty="0">
                <a:ln>
                  <a:noFill/>
                </a:ln>
                <a:solidFill>
                  <a:srgbClr val="1F1F1F"/>
                </a:solidFill>
                <a:effectLst/>
                <a:latin typeface="Google Sans Text"/>
                <a:cs typeface="Arial" panose="020B0604020202020204" pitchFamily="34" charset="0"/>
              </a:rPr>
              <a:t>python</a:t>
            </a:r>
            <a:endParaRPr kumimoji="0" lang="ar-SA" altLang="en-US" sz="1400" b="0" i="0" u="none" strike="noStrike" cap="none" normalizeH="0" baseline="0" dirty="0">
              <a:ln>
                <a:noFill/>
              </a:ln>
              <a:solidFill>
                <a:srgbClr val="1F1F1F"/>
              </a:solidFill>
              <a:effectLst/>
              <a:latin typeface="Google Sans Text"/>
              <a:cs typeface="Arial" panose="020B0604020202020204" pitchFamily="34" charset="0"/>
            </a:endParaRPr>
          </a:p>
          <a:p>
            <a:pPr marL="0" marR="0" lvl="0" indent="0" algn="r" defTabSz="914400" rtl="1" eaLnBrk="0" fontAlgn="base" latinLnBrk="0" hangingPunct="0">
              <a:lnSpc>
                <a:spcPct val="100000"/>
              </a:lnSpc>
              <a:spcBef>
                <a:spcPct val="0"/>
              </a:spcBef>
              <a:spcAft>
                <a:spcPct val="0"/>
              </a:spcAft>
              <a:buClrTx/>
              <a:buSzTx/>
              <a:buFontTx/>
              <a:buChar char="•"/>
              <a:tabLst/>
            </a:pPr>
            <a:r>
              <a:rPr kumimoji="0" lang="ar-SA" altLang="en-US" sz="1400" b="1" i="0" u="none" strike="noStrike" cap="none" normalizeH="0" baseline="0" dirty="0">
                <a:ln>
                  <a:noFill/>
                </a:ln>
                <a:solidFill>
                  <a:srgbClr val="1F1F1F"/>
                </a:solidFill>
                <a:effectLst/>
                <a:latin typeface="Google Sans Text"/>
                <a:cs typeface="Arial" panose="020B0604020202020204" pitchFamily="34" charset="0"/>
              </a:rPr>
              <a:t>المخرج المتوقع:</a:t>
            </a:r>
            <a:r>
              <a:rPr kumimoji="0" lang="ar-SA" altLang="en-US" sz="1400" b="0" i="0" u="none" strike="noStrike" cap="none" normalizeH="0" baseline="0" dirty="0">
                <a:ln>
                  <a:noFill/>
                </a:ln>
                <a:solidFill>
                  <a:srgbClr val="1F1F1F"/>
                </a:solidFill>
                <a:effectLst/>
                <a:latin typeface="Google Sans Text"/>
                <a:cs typeface="Arial" panose="020B0604020202020204" pitchFamily="34" charset="0"/>
              </a:rPr>
              <a:t> تكررت الكلمة 2 مرات.</a:t>
            </a:r>
          </a:p>
          <a:p>
            <a:pPr marL="0" marR="0" lvl="0" indent="0" algn="r" defTabSz="914400" rtl="0" eaLnBrk="0" fontAlgn="base" latinLnBrk="0" hangingPunct="0">
              <a:lnSpc>
                <a:spcPct val="100000"/>
              </a:lnSpc>
              <a:spcBef>
                <a:spcPct val="0"/>
              </a:spcBef>
              <a:spcAft>
                <a:spcPct val="0"/>
              </a:spcAft>
              <a:buClrTx/>
              <a:buSzTx/>
              <a:buFontTx/>
              <a:buNone/>
              <a:tabLst/>
            </a:pPr>
            <a:endParaRPr kumimoji="0" lang="ar-SA" altLang="en-US" sz="14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6897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2792</TotalTime>
  <Words>641</Words>
  <Application>Microsoft Office PowerPoint</Application>
  <PresentationFormat>Affichage à l'écran (16:9)</PresentationFormat>
  <Paragraphs>71</Paragraphs>
  <Slides>14</Slides>
  <Notes>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14</vt:i4>
      </vt:variant>
    </vt:vector>
  </HeadingPairs>
  <TitlesOfParts>
    <vt:vector size="24" baseType="lpstr">
      <vt:lpstr>Arial</vt:lpstr>
      <vt:lpstr>Arial Unicode MS</vt:lpstr>
      <vt:lpstr>Calibri</vt:lpstr>
      <vt:lpstr>Calibri Light</vt:lpstr>
      <vt:lpstr>Google Sans</vt:lpstr>
      <vt:lpstr>Google Sans Flex</vt:lpstr>
      <vt:lpstr>Google Sans Text</vt:lpstr>
      <vt:lpstr>Symbol</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pc</dc:creator>
  <cp:lastModifiedBy>BENSLIMANE CH</cp:lastModifiedBy>
  <cp:revision>23</cp:revision>
  <dcterms:modified xsi:type="dcterms:W3CDTF">2026-06-23T14:01:19Z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2026-06-09T18:11:38Z</dcterms:created>
  <dc:creator>Unknown Creator</dc:creator>
  <dc:description/>
  <dc:language>en-US</dc:language>
  <cp:lastModifiedBy>Unknown Creator</cp:lastModifiedBy>
  <dcterms:modified xsi:type="dcterms:W3CDTF">2026-06-09T18:11:38Z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