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10"/>
  </p:notesMasterIdLst>
  <p:sldIdLst>
    <p:sldId id="256" r:id="rId2"/>
    <p:sldId id="279" r:id="rId3"/>
    <p:sldId id="280" r:id="rId4"/>
    <p:sldId id="283" r:id="rId5"/>
    <p:sldId id="281" r:id="rId6"/>
    <p:sldId id="282" r:id="rId7"/>
    <p:sldId id="285" r:id="rId8"/>
    <p:sldId id="284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Style à thème 2 - Accentuation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2026/07/19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A8F459-E6BE-4993-8380-9F7FE9C3D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13"/>
            <a:ext cx="9144000" cy="50452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0DFB94-64B5-41D2-BE22-49AE198DB098}"/>
              </a:ext>
            </a:extLst>
          </p:cNvPr>
          <p:cNvSpPr/>
          <p:nvPr/>
        </p:nvSpPr>
        <p:spPr>
          <a:xfrm>
            <a:off x="530196" y="462297"/>
            <a:ext cx="273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 Size (geometry)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3C60D4-3E92-464E-A1C6-4D01646DB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27" y="1051733"/>
            <a:ext cx="3992653" cy="438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C9E34BA-2BA8-41DC-B657-127D3444F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66" y="1845883"/>
            <a:ext cx="3361410" cy="2744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F31E289-F6FE-440C-BDDF-48448B31B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54" y="1085886"/>
            <a:ext cx="3708884" cy="368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489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B52236-66FE-45FE-8BC3-CB839A24268A}"/>
              </a:ext>
            </a:extLst>
          </p:cNvPr>
          <p:cNvSpPr/>
          <p:nvPr/>
        </p:nvSpPr>
        <p:spPr>
          <a:xfrm>
            <a:off x="945749" y="664375"/>
            <a:ext cx="1555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 Icon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C8C863-A649-4325-AC57-0A1CA367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21" y="2834135"/>
            <a:ext cx="6020855" cy="611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F62BB65-AFB7-4A7E-8040-FDA0DD609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21" y="1386320"/>
            <a:ext cx="5825041" cy="642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6506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82E47-D9EC-450F-B4F2-B2EB3666FDB9}"/>
              </a:ext>
            </a:extLst>
          </p:cNvPr>
          <p:cNvSpPr/>
          <p:nvPr/>
        </p:nvSpPr>
        <p:spPr>
          <a:xfrm>
            <a:off x="1078485" y="697674"/>
            <a:ext cx="1497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 color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9D559D-7161-4D9E-8281-AA90E6792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660713"/>
            <a:ext cx="5979337" cy="911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81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56D6E-CA29-46D4-85B6-23BD3088F055}"/>
              </a:ext>
            </a:extLst>
          </p:cNvPr>
          <p:cNvSpPr/>
          <p:nvPr/>
        </p:nvSpPr>
        <p:spPr>
          <a:xfrm>
            <a:off x="815886" y="1039076"/>
            <a:ext cx="75501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Label</a:t>
            </a:r>
            <a:r>
              <a:rPr lang="en-US" dirty="0"/>
              <a:t> widget in </a:t>
            </a:r>
            <a:r>
              <a:rPr lang="en-US" dirty="0" err="1"/>
              <a:t>Tkinter</a:t>
            </a:r>
            <a:r>
              <a:rPr lang="en-US" dirty="0"/>
              <a:t> is used to </a:t>
            </a:r>
            <a:r>
              <a:rPr lang="en-US" b="1" dirty="0"/>
              <a:t>display text or images</a:t>
            </a:r>
            <a:r>
              <a:rPr lang="en-US" dirty="0"/>
              <a:t>.  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C6201-C39D-46C3-8429-904277261D63}"/>
              </a:ext>
            </a:extLst>
          </p:cNvPr>
          <p:cNvSpPr/>
          <p:nvPr/>
        </p:nvSpPr>
        <p:spPr>
          <a:xfrm>
            <a:off x="676796" y="563336"/>
            <a:ext cx="1435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Label</a:t>
            </a:r>
            <a:r>
              <a:rPr lang="en-US" dirty="0"/>
              <a:t> widget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FD97BF-5921-4875-8C17-7BABC6B88C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105"/>
          <a:stretch/>
        </p:blipFill>
        <p:spPr>
          <a:xfrm>
            <a:off x="1505144" y="1767560"/>
            <a:ext cx="3884287" cy="50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3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5C544E1-5546-4D6E-A39D-5A0D6FB616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907"/>
          <a:stretch/>
        </p:blipFill>
        <p:spPr>
          <a:xfrm>
            <a:off x="36286" y="690960"/>
            <a:ext cx="4535714" cy="35441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DFA91F0-B513-4165-9B51-CCEFC5FFA5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024"/>
          <a:stretch/>
        </p:blipFill>
        <p:spPr>
          <a:xfrm>
            <a:off x="4572000" y="980931"/>
            <a:ext cx="4421160" cy="318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90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EDB1E1-D8C7-482A-9A30-FAB44450E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705" y="70885"/>
            <a:ext cx="71946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pack()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 the method that makes a widget appear in the window and determines its position and spacing.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21364F4-9521-4628-AAFD-06762CEE8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928618"/>
              </p:ext>
            </p:extLst>
          </p:nvPr>
        </p:nvGraphicFramePr>
        <p:xfrm>
          <a:off x="120503" y="937624"/>
          <a:ext cx="8867552" cy="395335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045486">
                  <a:extLst>
                    <a:ext uri="{9D8B030D-6E8A-4147-A177-3AD203B41FA5}">
                      <a16:colId xmlns:a16="http://schemas.microsoft.com/office/drawing/2014/main" val="478120333"/>
                    </a:ext>
                  </a:extLst>
                </a:gridCol>
                <a:gridCol w="2770157">
                  <a:extLst>
                    <a:ext uri="{9D8B030D-6E8A-4147-A177-3AD203B41FA5}">
                      <a16:colId xmlns:a16="http://schemas.microsoft.com/office/drawing/2014/main" val="2317052772"/>
                    </a:ext>
                  </a:extLst>
                </a:gridCol>
                <a:gridCol w="2835021">
                  <a:extLst>
                    <a:ext uri="{9D8B030D-6E8A-4147-A177-3AD203B41FA5}">
                      <a16:colId xmlns:a16="http://schemas.microsoft.com/office/drawing/2014/main" val="3791547784"/>
                    </a:ext>
                  </a:extLst>
                </a:gridCol>
                <a:gridCol w="2216888">
                  <a:extLst>
                    <a:ext uri="{9D8B030D-6E8A-4147-A177-3AD203B41FA5}">
                      <a16:colId xmlns:a16="http://schemas.microsoft.com/office/drawing/2014/main" val="3528438045"/>
                    </a:ext>
                  </a:extLst>
                </a:gridCol>
              </a:tblGrid>
              <a:tr h="249499">
                <a:tc>
                  <a:txBody>
                    <a:bodyPr/>
                    <a:lstStyle/>
                    <a:p>
                      <a:r>
                        <a:rPr lang="en-US" sz="1200" b="1"/>
                        <a:t>Parameter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Choices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Description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Example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560026"/>
                  </a:ext>
                </a:extLst>
              </a:tr>
              <a:tr h="445271">
                <a:tc>
                  <a:txBody>
                    <a:bodyPr/>
                    <a:lstStyle/>
                    <a:p>
                      <a:r>
                        <a:rPr lang="en-US" sz="1200" b="1"/>
                        <a:t>side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"top", "bottom", "left", "right"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Specifies which side of the parent the widget is packed against.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pack(side="left")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45769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r>
                        <a:rPr lang="en-US" sz="1200" b="1"/>
                        <a:t>fill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"x", "y", "both", "none" (default)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Stretches the widget to fill available space.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pack(fill="x")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857687"/>
                  </a:ext>
                </a:extLst>
              </a:tr>
              <a:tr h="445271">
                <a:tc>
                  <a:txBody>
                    <a:bodyPr/>
                    <a:lstStyle/>
                    <a:p>
                      <a:r>
                        <a:rPr lang="en-US" sz="1200" b="1"/>
                        <a:t>expand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True, False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Allows the widget to use any extra space in the parent.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pack(expand=True)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142222"/>
                  </a:ext>
                </a:extLst>
              </a:tr>
              <a:tr h="445271">
                <a:tc>
                  <a:txBody>
                    <a:bodyPr/>
                    <a:lstStyle/>
                    <a:p>
                      <a:r>
                        <a:rPr lang="en-US" sz="1200" b="1"/>
                        <a:t>anchor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1"/>
                        <a:t>"n", "s", "e", "w", "ne", "nw", "se", "sw", "center"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Positions the widget inside the available space.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pack(anchor="nw")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057254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r>
                        <a:rPr lang="en-US" sz="1200" b="1"/>
                        <a:t>padx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Integer (0, 10, 20, ...)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Adds horizontal space outside the widget.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pack(padx=20)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264313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r>
                        <a:rPr lang="en-US" sz="1200" b="1"/>
                        <a:t>pady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Integer (0, 10, 20, ...)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Adds vertical space outside the widget.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pack(pady=15)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685061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r>
                        <a:rPr lang="en-US" sz="1200" b="1"/>
                        <a:t>ipadx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Integer (0, 10, 20, ...)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Adds horizontal space inside the widget.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pack(ipadx=10)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903895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r>
                        <a:rPr lang="en-US" sz="1200" b="1"/>
                        <a:t>ipady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Integer (0, 10, 20, ...)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Adds vertical space inside the widget.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pack(ipady=10)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934909"/>
                  </a:ext>
                </a:extLst>
              </a:tr>
              <a:tr h="445271">
                <a:tc>
                  <a:txBody>
                    <a:bodyPr/>
                    <a:lstStyle/>
                    <a:p>
                      <a:r>
                        <a:rPr lang="en-US" sz="1200" b="1"/>
                        <a:t>before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Another widget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Places the widget before another packed widget.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pack(before=label2)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210454"/>
                  </a:ext>
                </a:extLst>
              </a:tr>
              <a:tr h="445271">
                <a:tc>
                  <a:txBody>
                    <a:bodyPr/>
                    <a:lstStyle/>
                    <a:p>
                      <a:r>
                        <a:rPr lang="en-US" sz="1200" b="1"/>
                        <a:t>after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Another widget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Places the widget after another packed widget.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pack(after=label1)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2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568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2498</TotalTime>
  <Words>300</Words>
  <Application>Microsoft Office PowerPoint</Application>
  <PresentationFormat>Affichage à l'écran (16:9)</PresentationFormat>
  <Paragraphs>50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19</cp:revision>
  <dcterms:modified xsi:type="dcterms:W3CDTF">2026-07-19T17:32:28Z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