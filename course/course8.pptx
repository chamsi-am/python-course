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14"/>
  </p:notesMasterIdLst>
  <p:sldIdLst>
    <p:sldId id="256" r:id="rId2"/>
    <p:sldId id="279" r:id="rId3"/>
    <p:sldId id="281" r:id="rId4"/>
    <p:sldId id="280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SLIMANE CH" initials="BC" lastIdx="1" clrIdx="0">
    <p:extLst>
      <p:ext uri="{19B8F6BF-5375-455C-9EA6-DF929625EA0E}">
        <p15:presenceInfo xmlns:p15="http://schemas.microsoft.com/office/powerpoint/2012/main" userId="b3cab72e69019f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631"/>
    <a:srgbClr val="0B0541"/>
    <a:srgbClr val="282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1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2026/07/07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2ABBC-EDAF-BC7E-4C08-81CF758A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22"/>
          <a:stretch>
            <a:fillRect/>
          </a:stretch>
        </p:blipFill>
        <p:spPr>
          <a:xfrm>
            <a:off x="1" y="0"/>
            <a:ext cx="9144000" cy="5048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A2C6D3-9215-44A3-8804-EB3C51DA1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4A2E12-C38E-49C7-9F6D-EA4D81D60A54}"/>
              </a:ext>
            </a:extLst>
          </p:cNvPr>
          <p:cNvSpPr/>
          <p:nvPr/>
        </p:nvSpPr>
        <p:spPr>
          <a:xfrm>
            <a:off x="7749996" y="340468"/>
            <a:ext cx="1126494" cy="243686"/>
          </a:xfrm>
          <a:prstGeom prst="rect">
            <a:avLst/>
          </a:prstGeom>
          <a:solidFill>
            <a:srgbClr val="0516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9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3CCEC33-3D91-4C36-8EDA-11EE5B2FC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10" y="754648"/>
            <a:ext cx="5488317" cy="353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1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09DFEFA-A27F-497F-A039-3F0B67EC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696" y="1066250"/>
            <a:ext cx="5484607" cy="290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8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C94C63F-300A-495E-BF70-B05A2BC9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652" y="1247707"/>
            <a:ext cx="5947152" cy="27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3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6973006-AE6E-41E1-9EF8-B84CAC679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958" y="1196904"/>
            <a:ext cx="5512083" cy="27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72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7B065B-047E-4AFC-AC15-932603757556}"/>
              </a:ext>
            </a:extLst>
          </p:cNvPr>
          <p:cNvSpPr/>
          <p:nvPr/>
        </p:nvSpPr>
        <p:spPr>
          <a:xfrm>
            <a:off x="452147" y="455149"/>
            <a:ext cx="6029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What is Object-Oriented Programming (OOP)?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2A62C1-DCF1-46F4-BB8F-316D87C93A14}"/>
              </a:ext>
            </a:extLst>
          </p:cNvPr>
          <p:cNvSpPr/>
          <p:nvPr/>
        </p:nvSpPr>
        <p:spPr>
          <a:xfrm>
            <a:off x="1048276" y="1030303"/>
            <a:ext cx="6858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Object-Oriented Programming (OOP) is a programming </a:t>
            </a:r>
            <a:r>
              <a:rPr lang="en-US" b="1" dirty="0"/>
              <a:t>paradigm</a:t>
            </a:r>
            <a:r>
              <a:rPr lang="en-US" dirty="0"/>
              <a:t> that organizes software around </a:t>
            </a:r>
            <a:r>
              <a:rPr lang="en-US" b="1" dirty="0"/>
              <a:t>objects</a:t>
            </a:r>
            <a:r>
              <a:rPr lang="en-US" dirty="0"/>
              <a:t> rather than functions.</a:t>
            </a:r>
          </a:p>
          <a:p>
            <a:r>
              <a:rPr lang="en-US" dirty="0"/>
              <a:t>An object represents a real-world entity that contains: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(Attributes)</a:t>
            </a:r>
            <a:r>
              <a:rPr lang="en-US" dirty="0"/>
              <a:t> → Information about the object.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Behavior (Methods)</a:t>
            </a:r>
            <a:r>
              <a:rPr lang="en-US" dirty="0"/>
              <a:t> → Actions the object can perform. </a:t>
            </a:r>
          </a:p>
          <a:p>
            <a:r>
              <a:rPr lang="en-US" dirty="0"/>
              <a:t>Instead of writing a program as a sequence of functions, OOP models the program as a collection of interacting objects.</a:t>
            </a:r>
          </a:p>
        </p:txBody>
      </p:sp>
    </p:spTree>
    <p:extLst>
      <p:ext uri="{BB962C8B-B14F-4D97-AF65-F5344CB8AC3E}">
        <p14:creationId xmlns:p14="http://schemas.microsoft.com/office/powerpoint/2010/main" val="3999617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F50BCD-7141-4062-BDCF-F92A6A469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43" y="476183"/>
            <a:ext cx="817691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Why OOP?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programs become larger, procedural programming becomes difficult to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manage.Problems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Repeated code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maintenance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debugging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organization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code reusability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OOP solves these problems by organizing code into reusable objects.</a:t>
            </a: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organization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maintenance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reuse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teamwork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testing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scalable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48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297B1F-75BE-43C2-9DE4-7B5A29C24859}"/>
              </a:ext>
            </a:extLst>
          </p:cNvPr>
          <p:cNvSpPr/>
          <p:nvPr/>
        </p:nvSpPr>
        <p:spPr>
          <a:xfrm>
            <a:off x="805320" y="573782"/>
            <a:ext cx="299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3. Objects and Classes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D69371-5432-4834-A563-E6EFFA57AD26}"/>
              </a:ext>
            </a:extLst>
          </p:cNvPr>
          <p:cNvSpPr/>
          <p:nvPr/>
        </p:nvSpPr>
        <p:spPr>
          <a:xfrm>
            <a:off x="1374777" y="1441688"/>
            <a:ext cx="8242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Class?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796A6A-A667-44DB-A6EB-AB979FA88D87}"/>
              </a:ext>
            </a:extLst>
          </p:cNvPr>
          <p:cNvSpPr/>
          <p:nvPr/>
        </p:nvSpPr>
        <p:spPr>
          <a:xfrm>
            <a:off x="617349" y="190024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class is a blueprint or template used to create objects.</a:t>
            </a:r>
          </a:p>
          <a:p>
            <a:r>
              <a:rPr lang="en-US" dirty="0"/>
              <a:t>Think of a class as an architectural plan.</a:t>
            </a:r>
          </a:p>
          <a:p>
            <a:r>
              <a:rPr lang="en-US" dirty="0"/>
              <a:t>The plan is </a:t>
            </a:r>
            <a:r>
              <a:rPr lang="en-US" b="1" dirty="0"/>
              <a:t>not</a:t>
            </a:r>
            <a:r>
              <a:rPr lang="en-US" dirty="0"/>
              <a:t> the house.</a:t>
            </a:r>
          </a:p>
          <a:p>
            <a:r>
              <a:rPr lang="en-US" dirty="0"/>
              <a:t>It is used to build many houses.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DE950-C6FC-47B4-9A0E-7B4A1DF5B7AC}"/>
              </a:ext>
            </a:extLst>
          </p:cNvPr>
          <p:cNvSpPr/>
          <p:nvPr/>
        </p:nvSpPr>
        <p:spPr>
          <a:xfrm>
            <a:off x="6544654" y="1472466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Object?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439004-7843-4BE8-AF90-246DDD8A018B}"/>
              </a:ext>
            </a:extLst>
          </p:cNvPr>
          <p:cNvSpPr/>
          <p:nvPr/>
        </p:nvSpPr>
        <p:spPr>
          <a:xfrm>
            <a:off x="5577190" y="2158462"/>
            <a:ext cx="34273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 object is an actual instance created from a class.</a:t>
            </a:r>
          </a:p>
        </p:txBody>
      </p:sp>
    </p:spTree>
    <p:extLst>
      <p:ext uri="{BB962C8B-B14F-4D97-AF65-F5344CB8AC3E}">
        <p14:creationId xmlns:p14="http://schemas.microsoft.com/office/powerpoint/2010/main" val="1659408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006178-7923-46F5-87AB-C864D696B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902"/>
            <a:ext cx="9144000" cy="499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19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6092D18-FCE6-4C86-A147-E2D332D76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93" y="25269"/>
            <a:ext cx="8026813" cy="509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18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40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2920</TotalTime>
  <Words>191</Words>
  <Application>Microsoft Office PowerPoint</Application>
  <PresentationFormat>Affichage à l'écran (16:9)</PresentationFormat>
  <Paragraphs>31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BENSLIMANE CH</cp:lastModifiedBy>
  <cp:revision>19</cp:revision>
  <dcterms:modified xsi:type="dcterms:W3CDTF">2026-07-08T07:08:50Z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