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25" r:id="rId1"/>
  </p:sldMasterIdLst>
  <p:notesMasterIdLst>
    <p:notesMasterId r:id="rId13"/>
  </p:notesMasterIdLst>
  <p:sldIdLst>
    <p:sldId id="256" r:id="rId2"/>
    <p:sldId id="279" r:id="rId3"/>
    <p:sldId id="281" r:id="rId4"/>
    <p:sldId id="280" r:id="rId5"/>
    <p:sldId id="282" r:id="rId6"/>
    <p:sldId id="284" r:id="rId7"/>
    <p:sldId id="285" r:id="rId8"/>
    <p:sldId id="286" r:id="rId9"/>
    <p:sldId id="287" r:id="rId10"/>
    <p:sldId id="288" r:id="rId11"/>
    <p:sldId id="289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NSLIMANE CH" initials="BC" lastIdx="1" clrIdx="0">
    <p:extLst>
      <p:ext uri="{19B8F6BF-5375-455C-9EA6-DF929625EA0E}">
        <p15:presenceInfo xmlns:p15="http://schemas.microsoft.com/office/powerpoint/2012/main" userId="b3cab72e69019fa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1631"/>
    <a:srgbClr val="0B0541"/>
    <a:srgbClr val="2829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7FD80-104E-477A-84DF-AAA7C9A1979B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95387-B1C2-442A-BF85-CE86727D2772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69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514F-D43A-A42F-F995-18DDCE570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6F4F-A1C7-F451-F6C3-A1507AB0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8F2D3-5BB4-C5B7-C4F3-4E551F27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DA541-B7A6-8C7A-8595-068F77479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D86-6972-4C04-F108-BD052DD0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19293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D6DE-BECF-C841-2293-363F5801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E547-D5E7-908E-D294-01BE30412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3825-EDF6-C1B6-0FA4-B0FF16C0A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4944C-115D-7C85-74A4-388121262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E5045-82D0-03FD-49A8-8483FA8F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0074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3538-AF09-0B60-F393-3DF3406DF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00258-D7D2-063D-D4AC-47EC9C8F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BC68-6842-434F-0CDA-8DD536869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66577-1D54-715B-8AE8-C23448D76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E1C9A-FF65-1394-F64F-AA065144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823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3D00-61F9-7D05-C411-6B73E06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DF50-037A-3C15-2C3E-08B916B90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1D7C0-03E8-0DE3-4542-9C53BF65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D3AF-8813-6E1F-DA13-61235A24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32F4C-E458-C9B9-FEE0-950555BA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386A0-3DDA-1393-25AC-6633772C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858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7730-885C-D7F8-D8AF-7BFFD2DB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16968-DB35-9B17-16D7-9E8E179C45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63528-11C3-BF1A-650D-55D23FA6C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83F0D4-6AEE-D2C3-0E17-9EC20ECE8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3901C-34E2-FDDE-C04B-8A57A58E0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33B50-4B92-0DCF-E2FC-E678A774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F502E-4048-BC09-9EEA-3DD37BD8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FAC6-BC30-CA12-3D0F-5E5B39A8C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996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0565-D954-DD51-FC61-7354BF57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D8855-A4E2-0FB6-F3AB-6E6B78D5F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BA00B-F3B4-3A54-0B38-81611AA24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485BC-2DE8-2A65-7AE0-3D1B23F5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395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18452-EF96-33BB-7F6E-0DDA165D0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F7A3FB-2588-2460-33BD-3829251A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AB309-BD21-BDD0-56C2-C2B45380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996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FEBD-EFB0-5161-8EF3-1A9BA24B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A531-4543-FF8B-A654-EDE6D9CA3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517CA-852A-BF22-AC90-E0AE9FC1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14E24-AF51-C383-CE4B-AE6BA24B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B76C4-7C27-40C1-49F4-B1EE093D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0C3B-9FE7-1976-47D7-66560038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36222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54D93-C144-23C7-CA6F-873A6CC6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215AF-1716-570B-4136-CFE06A6F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0860D-1DC4-1A90-F460-22FC03F6B4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0B7BE-BD4D-D22D-5404-40B409D4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CCFDF-5FAD-472D-B59B-4F5C73ED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0FAB-0F52-5E6D-FC32-8B45CCA4F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3027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23BC2-667F-79D3-E71A-A3B96D66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B11B3-DA3C-0543-E67C-1EC247C40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8CA22-B69F-103A-904F-45E3E910C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624D7-40B0-DC4E-C182-4FB2B10F3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2B130-8251-A5B5-5693-BCD91E02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59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596F4-2BD9-11C5-1555-DAEDCBFFF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28060-A750-36DB-C41C-E8512933D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DE29-FDD0-B267-7BC1-07A2264D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CE0C-4578-5368-B11B-6AB263C1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45D4-8321-BC8B-15AD-5C930D1F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23084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89880" y="2574000"/>
            <a:ext cx="4493520" cy="14958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2942035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3860E-B5F2-D006-098F-5A530B6F0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BB4DC-DF4C-F411-CE4C-83FFF29CF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2BCA-DAAD-FDF6-DB26-BFA1C806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3421B-4862-4D3A-B9AB-BA663EF3CA0D}" type="datetimeFigureOut">
              <a:rPr lang="en-ZA" smtClean="0"/>
              <a:t>2026/07/09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35681-8A91-D98D-3E29-2C45B399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544A-EECF-EBAD-93C7-517233F017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28126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Generated image: Python programming course cover design">
            <a:extLst>
              <a:ext uri="{FF2B5EF4-FFF2-40B4-BE49-F238E27FC236}">
                <a16:creationId xmlns:a16="http://schemas.microsoft.com/office/drawing/2014/main" id="{AAACFFB3-435A-D176-4314-2BD5401AD6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C2ABBC-EDAF-BC7E-4C08-81CF758A52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322"/>
          <a:stretch>
            <a:fillRect/>
          </a:stretch>
        </p:blipFill>
        <p:spPr>
          <a:xfrm>
            <a:off x="1" y="0"/>
            <a:ext cx="9144000" cy="50480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0A2C6D3-9215-44A3-8804-EB3C51DA1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4A2E12-C38E-49C7-9F6D-EA4D81D60A54}"/>
              </a:ext>
            </a:extLst>
          </p:cNvPr>
          <p:cNvSpPr/>
          <p:nvPr/>
        </p:nvSpPr>
        <p:spPr>
          <a:xfrm>
            <a:off x="7749996" y="340468"/>
            <a:ext cx="1126494" cy="243686"/>
          </a:xfrm>
          <a:prstGeom prst="rect">
            <a:avLst/>
          </a:prstGeom>
          <a:solidFill>
            <a:srgbClr val="0516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890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43CCEC33-3D91-4C36-8EDA-11EE5B2FC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210" y="754648"/>
            <a:ext cx="5488317" cy="353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018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209DFEFA-A27F-497F-A039-3F0B67EC4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696" y="1066250"/>
            <a:ext cx="5484607" cy="290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87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C94C63F-300A-495E-BF70-B05A2BC9F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937" y="35756"/>
            <a:ext cx="5355745" cy="247051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D72A1556-3E09-4FC0-9D7A-837CB0050C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367" r="1439"/>
          <a:stretch/>
        </p:blipFill>
        <p:spPr>
          <a:xfrm>
            <a:off x="1534937" y="2637229"/>
            <a:ext cx="5355745" cy="226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3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7B065B-047E-4AFC-AC15-932603757556}"/>
              </a:ext>
            </a:extLst>
          </p:cNvPr>
          <p:cNvSpPr/>
          <p:nvPr/>
        </p:nvSpPr>
        <p:spPr>
          <a:xfrm>
            <a:off x="452147" y="455149"/>
            <a:ext cx="6029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What is Object-Oriented Programming (OOP)?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2A62C1-DCF1-46F4-BB8F-316D87C93A14}"/>
              </a:ext>
            </a:extLst>
          </p:cNvPr>
          <p:cNvSpPr/>
          <p:nvPr/>
        </p:nvSpPr>
        <p:spPr>
          <a:xfrm>
            <a:off x="1048276" y="1030303"/>
            <a:ext cx="68580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Object-Oriented Programming (OOP) is a programming </a:t>
            </a:r>
            <a:r>
              <a:rPr lang="en-US" b="1" dirty="0"/>
              <a:t>paradigm</a:t>
            </a:r>
            <a:r>
              <a:rPr lang="en-US" dirty="0"/>
              <a:t> that organizes software around </a:t>
            </a:r>
            <a:r>
              <a:rPr lang="en-US" b="1" dirty="0"/>
              <a:t>objects</a:t>
            </a:r>
            <a:r>
              <a:rPr lang="en-US" dirty="0"/>
              <a:t> rather than functions.</a:t>
            </a:r>
          </a:p>
          <a:p>
            <a:r>
              <a:rPr lang="en-US" dirty="0"/>
              <a:t>An object represents a real-world entity that contains: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(Attributes)</a:t>
            </a:r>
            <a:r>
              <a:rPr lang="en-US" dirty="0"/>
              <a:t> → Information about the object.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Behavior (Methods)</a:t>
            </a:r>
            <a:r>
              <a:rPr lang="en-US" dirty="0"/>
              <a:t> → Actions the object can perform. </a:t>
            </a:r>
          </a:p>
          <a:p>
            <a:r>
              <a:rPr lang="en-US" dirty="0"/>
              <a:t>Instead of writing a program as a sequence of functions, OOP models the program as a collection of interacting objects.</a:t>
            </a:r>
          </a:p>
        </p:txBody>
      </p:sp>
    </p:spTree>
    <p:extLst>
      <p:ext uri="{BB962C8B-B14F-4D97-AF65-F5344CB8AC3E}">
        <p14:creationId xmlns:p14="http://schemas.microsoft.com/office/powerpoint/2010/main" val="3999617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DF50BCD-7141-4062-BDCF-F92A6A469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843" y="476183"/>
            <a:ext cx="8176918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Why OOP?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 programs become larger, procedural programming becomes difficult to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manage.Problems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include: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Repeated code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 maintenance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 debugging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Poor organization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 code reusability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Arial" panose="020B0604020202020204" pitchFamily="34" charset="0"/>
              </a:rPr>
              <a:t>OOP solves these problems by organizing code into reusable objects.</a:t>
            </a:r>
            <a:endParaRPr lang="en-US" altLang="en-US" sz="14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Benefits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Better organization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Easier maintenance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 reuse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Easier teamwork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Easier testing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scalable applications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6483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297B1F-75BE-43C2-9DE4-7B5A29C24859}"/>
              </a:ext>
            </a:extLst>
          </p:cNvPr>
          <p:cNvSpPr/>
          <p:nvPr/>
        </p:nvSpPr>
        <p:spPr>
          <a:xfrm>
            <a:off x="805320" y="573782"/>
            <a:ext cx="29947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3. Objects and Classes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D69371-5432-4834-A563-E6EFFA57AD26}"/>
              </a:ext>
            </a:extLst>
          </p:cNvPr>
          <p:cNvSpPr/>
          <p:nvPr/>
        </p:nvSpPr>
        <p:spPr>
          <a:xfrm>
            <a:off x="1374777" y="1441688"/>
            <a:ext cx="8242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/>
              <a:t>Class?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796A6A-A667-44DB-A6EB-AB979FA88D87}"/>
              </a:ext>
            </a:extLst>
          </p:cNvPr>
          <p:cNvSpPr/>
          <p:nvPr/>
        </p:nvSpPr>
        <p:spPr>
          <a:xfrm>
            <a:off x="617349" y="1900245"/>
            <a:ext cx="4572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 class is a blueprint or template used to create objects.</a:t>
            </a:r>
          </a:p>
          <a:p>
            <a:r>
              <a:rPr lang="en-US" dirty="0"/>
              <a:t>Think of a class as an architectural plan.</a:t>
            </a:r>
          </a:p>
          <a:p>
            <a:r>
              <a:rPr lang="en-US" dirty="0"/>
              <a:t>The plan is </a:t>
            </a:r>
            <a:r>
              <a:rPr lang="en-US" b="1" dirty="0"/>
              <a:t>not</a:t>
            </a:r>
            <a:r>
              <a:rPr lang="en-US" dirty="0"/>
              <a:t> the house.</a:t>
            </a:r>
          </a:p>
          <a:p>
            <a:r>
              <a:rPr lang="en-US" dirty="0"/>
              <a:t>It is used to build many houses.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EDE950-C6FC-47B4-9A0E-7B4A1DF5B7AC}"/>
              </a:ext>
            </a:extLst>
          </p:cNvPr>
          <p:cNvSpPr/>
          <p:nvPr/>
        </p:nvSpPr>
        <p:spPr>
          <a:xfrm>
            <a:off x="6544654" y="1472466"/>
            <a:ext cx="910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Object?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439004-7843-4BE8-AF90-246DDD8A018B}"/>
              </a:ext>
            </a:extLst>
          </p:cNvPr>
          <p:cNvSpPr/>
          <p:nvPr/>
        </p:nvSpPr>
        <p:spPr>
          <a:xfrm>
            <a:off x="5577190" y="2158462"/>
            <a:ext cx="34273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An object is an actual instance created from a class.</a:t>
            </a:r>
          </a:p>
        </p:txBody>
      </p:sp>
    </p:spTree>
    <p:extLst>
      <p:ext uri="{BB962C8B-B14F-4D97-AF65-F5344CB8AC3E}">
        <p14:creationId xmlns:p14="http://schemas.microsoft.com/office/powerpoint/2010/main" val="1659408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5006178-7923-46F5-87AB-C864D69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902"/>
            <a:ext cx="9144000" cy="499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019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C6092D18-FCE6-4C86-A147-E2D332D76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93" y="25269"/>
            <a:ext cx="8026813" cy="5092962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01B8E967-882A-4C79-8DC7-540F7B71FFD5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304532" y="3753587"/>
            <a:ext cx="388998" cy="311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BCB798A9-0F8A-4F10-9211-46877E78735D}"/>
              </a:ext>
            </a:extLst>
          </p:cNvPr>
          <p:cNvSpPr txBox="1"/>
          <p:nvPr/>
        </p:nvSpPr>
        <p:spPr>
          <a:xfrm>
            <a:off x="5693530" y="3803479"/>
            <a:ext cx="1651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Object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0A7E568-66C6-43B8-AEB0-A7E55618A3A7}"/>
              </a:ext>
            </a:extLst>
          </p:cNvPr>
          <p:cNvSpPr txBox="1"/>
          <p:nvPr/>
        </p:nvSpPr>
        <p:spPr>
          <a:xfrm>
            <a:off x="6401642" y="1705525"/>
            <a:ext cx="1651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</a:t>
            </a:r>
            <a:r>
              <a:rPr lang="fr-FR" sz="28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ass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8E4DEE71-677E-4F78-B3F7-04DBCD5D7911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519240" y="1967135"/>
            <a:ext cx="882402" cy="10585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8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2406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3500</TotalTime>
  <Words>194</Words>
  <Application>Microsoft Office PowerPoint</Application>
  <PresentationFormat>Affichage à l'écran (16:9)</PresentationFormat>
  <Paragraphs>33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Symbol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pc</dc:creator>
  <cp:lastModifiedBy>BENSLIMANE CH</cp:lastModifiedBy>
  <cp:revision>20</cp:revision>
  <dcterms:modified xsi:type="dcterms:W3CDTF">2026-07-10T06:39:29Z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2026-06-09T18:11:38Z</dcterms:created>
  <dc:creator>Unknown Creator</dc:creator>
  <dc:description/>
  <dc:language>en-US</dc:language>
  <cp:lastModifiedBy>Unknown Creator</cp:lastModifiedBy>
  <dcterms:modified xsi:type="dcterms:W3CDTF">2026-06-09T18:11:38Z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