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3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FF"/>
    <a:srgbClr val="877B51"/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92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0EAE328-DC7F-4FAD-8EC5-905268E0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9"/>
            <a:ext cx="9144000" cy="512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2D4866-6224-4544-9A37-27F0F94C30F0}"/>
              </a:ext>
            </a:extLst>
          </p:cNvPr>
          <p:cNvSpPr/>
          <p:nvPr/>
        </p:nvSpPr>
        <p:spPr>
          <a:xfrm>
            <a:off x="338480" y="436655"/>
            <a:ext cx="77648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What is a Function?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is a reusable block of code that performs a specific task.</a:t>
            </a:r>
          </a:p>
          <a:p>
            <a:r>
              <a:rPr lang="en-US" dirty="0"/>
              <a:t>Instead of writing the same code multiple times, we write it once inside a function and call it whenever we need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86D856-6BBC-4C13-82D6-FDA9C73FF092}"/>
              </a:ext>
            </a:extLst>
          </p:cNvPr>
          <p:cNvSpPr/>
          <p:nvPr/>
        </p:nvSpPr>
        <p:spPr>
          <a:xfrm>
            <a:off x="338480" y="2023345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Without a function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78C7E56-9924-40FF-A699-368DC8D569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554"/>
          <a:stretch/>
        </p:blipFill>
        <p:spPr>
          <a:xfrm>
            <a:off x="469831" y="2625699"/>
            <a:ext cx="3584643" cy="1260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E15459-7E2E-4CF8-B959-E9F362E32566}"/>
              </a:ext>
            </a:extLst>
          </p:cNvPr>
          <p:cNvSpPr/>
          <p:nvPr/>
        </p:nvSpPr>
        <p:spPr>
          <a:xfrm>
            <a:off x="5349068" y="2023345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Using a function: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370D76E-EA4D-456E-AA12-442B707E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037" y="2471288"/>
            <a:ext cx="3356405" cy="2070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396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EF0F1C-A795-4027-B726-D07F13A5BDE2}"/>
              </a:ext>
            </a:extLst>
          </p:cNvPr>
          <p:cNvSpPr/>
          <p:nvPr/>
        </p:nvSpPr>
        <p:spPr>
          <a:xfrm>
            <a:off x="919452" y="606232"/>
            <a:ext cx="5938548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2. Defining a Function</a:t>
            </a:r>
          </a:p>
          <a:p>
            <a:r>
              <a:rPr lang="en-US" dirty="0"/>
              <a:t>The keyword </a:t>
            </a:r>
            <a:r>
              <a:rPr lang="en-US" b="1" dirty="0"/>
              <a:t>def</a:t>
            </a:r>
            <a:r>
              <a:rPr lang="en-US" dirty="0"/>
              <a:t> is used to create a function.</a:t>
            </a:r>
          </a:p>
          <a:p>
            <a:r>
              <a:rPr lang="en-US" b="1" dirty="0"/>
              <a:t>Syntax</a:t>
            </a:r>
            <a:r>
              <a:rPr lang="en-US" dirty="0"/>
              <a:t> </a:t>
            </a:r>
          </a:p>
          <a:p>
            <a:pPr lvl="1"/>
            <a:r>
              <a:rPr lang="en-US" sz="2400" dirty="0">
                <a:solidFill>
                  <a:srgbClr val="0007FF"/>
                </a:solidFill>
              </a:rPr>
              <a:t>def</a:t>
            </a:r>
            <a:r>
              <a:rPr lang="en-US" sz="2400" dirty="0"/>
              <a:t>    </a:t>
            </a:r>
            <a:r>
              <a:rPr lang="en-US" sz="2400" dirty="0" err="1">
                <a:solidFill>
                  <a:srgbClr val="877B51"/>
                </a:solidFill>
              </a:rPr>
              <a:t>function_name</a:t>
            </a:r>
            <a:r>
              <a:rPr lang="en-US" sz="2400" dirty="0">
                <a:solidFill>
                  <a:schemeClr val="accent1"/>
                </a:solidFill>
              </a:rPr>
              <a:t>()</a:t>
            </a:r>
            <a:r>
              <a:rPr lang="en-US" sz="2400" dirty="0"/>
              <a:t>: </a:t>
            </a:r>
          </a:p>
          <a:p>
            <a:pPr lvl="1"/>
            <a:r>
              <a:rPr lang="en-US" sz="2400" dirty="0"/>
              <a:t>  	 statements…</a:t>
            </a:r>
            <a:r>
              <a:rPr lang="en-US" sz="2000" dirty="0"/>
              <a:t>	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1EDD0-53DC-4C63-8FEC-25777F70777D}"/>
              </a:ext>
            </a:extLst>
          </p:cNvPr>
          <p:cNvSpPr/>
          <p:nvPr/>
        </p:nvSpPr>
        <p:spPr>
          <a:xfrm>
            <a:off x="919452" y="2488122"/>
            <a:ext cx="1057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E1DF78-07D5-42A5-A5D2-A5F43732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97" y="3016005"/>
            <a:ext cx="3977786" cy="998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03EBAE-9605-4BD0-9DEB-7DA78352F93C}"/>
              </a:ext>
            </a:extLst>
          </p:cNvPr>
          <p:cNvSpPr/>
          <p:nvPr/>
        </p:nvSpPr>
        <p:spPr>
          <a:xfrm>
            <a:off x="6418682" y="2483669"/>
            <a:ext cx="870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Output</a:t>
            </a:r>
          </a:p>
          <a:p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AB5128E-A1E8-47C4-A5CE-6E04EAD79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590" y="3034330"/>
            <a:ext cx="1549480" cy="273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85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CC6260-1B59-4141-B599-C29E59415431}"/>
              </a:ext>
            </a:extLst>
          </p:cNvPr>
          <p:cNvSpPr/>
          <p:nvPr/>
        </p:nvSpPr>
        <p:spPr>
          <a:xfrm>
            <a:off x="481744" y="533024"/>
            <a:ext cx="2388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3. Function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1F2CF2-C32C-4DFD-AE96-38F20F5BDFE2}"/>
              </a:ext>
            </a:extLst>
          </p:cNvPr>
          <p:cNvSpPr/>
          <p:nvPr/>
        </p:nvSpPr>
        <p:spPr>
          <a:xfrm>
            <a:off x="891666" y="1010861"/>
            <a:ext cx="5685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parameter</a:t>
            </a:r>
            <a:r>
              <a:rPr lang="en-US" dirty="0"/>
              <a:t> is a variable defined inside the function.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D6690-C635-4654-B5A8-0569662D9EC8}"/>
              </a:ext>
            </a:extLst>
          </p:cNvPr>
          <p:cNvSpPr/>
          <p:nvPr/>
        </p:nvSpPr>
        <p:spPr>
          <a:xfrm>
            <a:off x="738077" y="1684866"/>
            <a:ext cx="1039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EA0EBD-FE6F-4933-86BE-5022FFD9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797" y="2277588"/>
            <a:ext cx="3356405" cy="2070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Légende : encadrée 6">
            <a:extLst>
              <a:ext uri="{FF2B5EF4-FFF2-40B4-BE49-F238E27FC236}">
                <a16:creationId xmlns:a16="http://schemas.microsoft.com/office/drawing/2014/main" id="{117434D9-CC6E-4AE3-B525-4CE89B4E3C5A}"/>
              </a:ext>
            </a:extLst>
          </p:cNvPr>
          <p:cNvSpPr/>
          <p:nvPr/>
        </p:nvSpPr>
        <p:spPr>
          <a:xfrm>
            <a:off x="6291540" y="1830807"/>
            <a:ext cx="1968372" cy="446781"/>
          </a:xfrm>
          <a:prstGeom prst="borderCallout1">
            <a:avLst>
              <a:gd name="adj1" fmla="val 49618"/>
              <a:gd name="adj2" fmla="val -812"/>
              <a:gd name="adj3" fmla="val 107998"/>
              <a:gd name="adj4" fmla="val -815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A  </a:t>
            </a:r>
            <a:r>
              <a:rPr lang="fr-FR" sz="2400" dirty="0" err="1"/>
              <a:t>paramater</a:t>
            </a:r>
            <a:r>
              <a:rPr lang="fr-FR" sz="2400" dirty="0"/>
              <a:t> </a:t>
            </a:r>
            <a:endParaRPr lang="en-US" sz="2400" dirty="0"/>
          </a:p>
        </p:txBody>
      </p:sp>
      <p:sp>
        <p:nvSpPr>
          <p:cNvPr id="8" name="Légende : encadrée 7">
            <a:extLst>
              <a:ext uri="{FF2B5EF4-FFF2-40B4-BE49-F238E27FC236}">
                <a16:creationId xmlns:a16="http://schemas.microsoft.com/office/drawing/2014/main" id="{0443201E-8C46-42B8-87B0-49DA4808BBFC}"/>
              </a:ext>
            </a:extLst>
          </p:cNvPr>
          <p:cNvSpPr/>
          <p:nvPr/>
        </p:nvSpPr>
        <p:spPr>
          <a:xfrm>
            <a:off x="481744" y="2459995"/>
            <a:ext cx="1968372" cy="446781"/>
          </a:xfrm>
          <a:prstGeom prst="borderCallout1">
            <a:avLst>
              <a:gd name="adj1" fmla="val 49618"/>
              <a:gd name="adj2" fmla="val 98601"/>
              <a:gd name="adj3" fmla="val 161821"/>
              <a:gd name="adj4" fmla="val 1899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An  argument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269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E10C86-9BD0-4991-9741-D37AA213AF0F}"/>
              </a:ext>
            </a:extLst>
          </p:cNvPr>
          <p:cNvSpPr/>
          <p:nvPr/>
        </p:nvSpPr>
        <p:spPr>
          <a:xfrm>
            <a:off x="808997" y="576572"/>
            <a:ext cx="2368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4. Multiple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BADB97-4CAA-4D27-9253-BDC0DDF5EC8A}"/>
              </a:ext>
            </a:extLst>
          </p:cNvPr>
          <p:cNvSpPr/>
          <p:nvPr/>
        </p:nvSpPr>
        <p:spPr>
          <a:xfrm>
            <a:off x="1430546" y="1116003"/>
            <a:ext cx="422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Functions can receive multiple parameters.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1B45FDA-E2D4-4DC7-979D-6D744813E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46" y="2475115"/>
            <a:ext cx="3106922" cy="1642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49DEE1-AC6E-46B1-B695-872F407902CD}"/>
              </a:ext>
            </a:extLst>
          </p:cNvPr>
          <p:cNvSpPr/>
          <p:nvPr/>
        </p:nvSpPr>
        <p:spPr>
          <a:xfrm>
            <a:off x="1009463" y="1861225"/>
            <a:ext cx="14743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63071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C6FCCF-26ED-4194-ADAC-255D1B35DF28}"/>
              </a:ext>
            </a:extLst>
          </p:cNvPr>
          <p:cNvSpPr/>
          <p:nvPr/>
        </p:nvSpPr>
        <p:spPr>
          <a:xfrm>
            <a:off x="667389" y="687986"/>
            <a:ext cx="2405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5.Positional Arguments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72011-4D19-4849-8732-0AAE978F8A83}"/>
              </a:ext>
            </a:extLst>
          </p:cNvPr>
          <p:cNvSpPr/>
          <p:nvPr/>
        </p:nvSpPr>
        <p:spPr>
          <a:xfrm>
            <a:off x="943583" y="1223939"/>
            <a:ext cx="6274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Arguments are matched according to their position.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6B7503-34D2-44FD-93A0-8E3CB27B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609" y="1981439"/>
            <a:ext cx="4904587" cy="1694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44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57DBC-0376-4D06-B4DA-A61807BC0F4C}"/>
              </a:ext>
            </a:extLst>
          </p:cNvPr>
          <p:cNvSpPr/>
          <p:nvPr/>
        </p:nvSpPr>
        <p:spPr>
          <a:xfrm>
            <a:off x="530618" y="486948"/>
            <a:ext cx="26066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6. Keyword Arguments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9B6BC-5B11-4890-B971-76E763A297B8}"/>
              </a:ext>
            </a:extLst>
          </p:cNvPr>
          <p:cNvSpPr/>
          <p:nvPr/>
        </p:nvSpPr>
        <p:spPr>
          <a:xfrm>
            <a:off x="781455" y="1139632"/>
            <a:ext cx="6131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Arguments can also be passed using parameter names.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DEF965D-9A35-415D-952F-ED1252065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19" y="2071557"/>
            <a:ext cx="6304562" cy="1735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38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6137D4-6128-4CA8-BDC6-61F35556E027}"/>
              </a:ext>
            </a:extLst>
          </p:cNvPr>
          <p:cNvSpPr/>
          <p:nvPr/>
        </p:nvSpPr>
        <p:spPr>
          <a:xfrm>
            <a:off x="734673" y="506403"/>
            <a:ext cx="24940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7. Default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509465-0340-435D-AE97-D9B7F1E577A3}"/>
              </a:ext>
            </a:extLst>
          </p:cNvPr>
          <p:cNvSpPr/>
          <p:nvPr/>
        </p:nvSpPr>
        <p:spPr>
          <a:xfrm>
            <a:off x="1124764" y="1167884"/>
            <a:ext cx="3729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parameter can have a default value.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0879C23-0993-447C-816E-C59ACD60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98" y="1798587"/>
            <a:ext cx="4179403" cy="1966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896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E5EC50-0714-47FE-8F3D-490FD126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07" y="589851"/>
            <a:ext cx="88067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Returning Values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far, our functions have displayed information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Sometimes we need a function to send a result back to the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done using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C07F3EB-A6A3-47E6-A4D3-49DF857D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72" y="2175177"/>
            <a:ext cx="3604421" cy="235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503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4254480-FE0D-443A-9DF7-6D47E7A3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55" y="0"/>
            <a:ext cx="3454156" cy="51435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56B1D0C-396F-460E-B238-ECD9C751D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418" y="165705"/>
            <a:ext cx="4517196" cy="492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2176</TotalTime>
  <Words>188</Words>
  <Application>Microsoft Office PowerPoint</Application>
  <PresentationFormat>Affichage à l'écran (16:9)</PresentationFormat>
  <Paragraphs>33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17</cp:revision>
  <dcterms:modified xsi:type="dcterms:W3CDTF">2026-07-03T13:19:56Z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