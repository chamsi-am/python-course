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Props/core0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openxmlformats.org/officedocument/2006/relationships/metadata/core-properties" Target="docProps/core0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825" r:id="rId1"/>
  </p:sldMasterIdLst>
  <p:notesMasterIdLst>
    <p:notesMasterId r:id="rId10"/>
  </p:notesMasterIdLst>
  <p:sldIdLst>
    <p:sldId id="256" r:id="rId2"/>
    <p:sldId id="271" r:id="rId3"/>
    <p:sldId id="273" r:id="rId4"/>
    <p:sldId id="274" r:id="rId5"/>
    <p:sldId id="272" r:id="rId6"/>
    <p:sldId id="275" r:id="rId7"/>
    <p:sldId id="276" r:id="rId8"/>
    <p:sldId id="278" r:id="rId9"/>
  </p:sldIdLst>
  <p:sldSz cx="9144000" cy="5143500" type="screen16x9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B0541"/>
    <a:srgbClr val="28296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126" d="100"/>
          <a:sy n="126" d="100"/>
        </p:scale>
        <p:origin x="128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ZA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157FD80-104E-477A-84DF-AAA7C9A1979B}" type="datetimeFigureOut">
              <a:rPr lang="en-ZA" smtClean="0"/>
              <a:t>2026/06/19</a:t>
            </a:fld>
            <a:endParaRPr lang="en-ZA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ZA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Z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6395387-B1C2-442A-BF85-CE86727D2772}" type="slidenum">
              <a:rPr lang="en-ZA" smtClean="0"/>
              <a:t>‹N°›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4926998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14514F-D43A-A42F-F995-18DDCE5706D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F436F4F-A1C7-F451-F6C3-A1507AB0D02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C8F2D3-5BB4-C5B7-C4F3-4E551F27B3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53421B-4862-4D3A-B9AB-BA663EF3CA0D}" type="datetimeFigureOut">
              <a:rPr lang="en-ZA" smtClean="0"/>
              <a:t>2026/06/19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1DA541-B7A6-8C7A-8595-068F774796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4CCD86-6972-4C04-F108-BD052DD0D6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397361-9586-496E-9D0C-05473371388D}" type="slidenum">
              <a:rPr lang="en-ZA" smtClean="0"/>
              <a:t>‹N°›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8192935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6ED6DE-BECF-C841-2293-363F5801CF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04E547-D5E7-908E-D294-01BE30412A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043825-EDF6-C1B6-0FA4-B0FF16C0A1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53421B-4862-4D3A-B9AB-BA663EF3CA0D}" type="datetimeFigureOut">
              <a:rPr lang="en-ZA" smtClean="0"/>
              <a:t>2026/06/19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B4944C-115D-7C85-74A4-3881212622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0E5045-82D0-03FD-49A8-8483FA8FBC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397361-9586-496E-9D0C-05473371388D}" type="slidenum">
              <a:rPr lang="en-ZA" smtClean="0"/>
              <a:t>‹N°›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9900748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7E3538-AF09-0B60-F393-3DF3406DF4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CB00258-D7D2-063D-D4AC-47EC9C8F408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4CBC68-6842-434F-0CDA-8DD5368697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53421B-4862-4D3A-B9AB-BA663EF3CA0D}" type="datetimeFigureOut">
              <a:rPr lang="en-ZA" smtClean="0"/>
              <a:t>2026/06/19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166577-1D54-715B-8AE8-C23448D765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0E1C9A-FF65-1394-F64F-AA065144AA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397361-9586-496E-9D0C-05473371388D}" type="slidenum">
              <a:rPr lang="en-ZA" smtClean="0"/>
              <a:t>‹N°›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3823291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23D00-61F9-7D05-C411-6B73E06EE9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D8DF50-037A-3C15-2C3E-08B916B90FF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421D7C0-03E8-0DE3-4542-9C53BF651BD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FA7D3AF-8813-6E1F-DA13-61235A24C8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53421B-4862-4D3A-B9AB-BA663EF3CA0D}" type="datetimeFigureOut">
              <a:rPr lang="en-ZA" smtClean="0"/>
              <a:t>2026/06/19</a:t>
            </a:fld>
            <a:endParaRPr lang="en-Z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EB32F4C-E458-C9B9-FEE0-950555BA88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7C386A0-3DDA-1393-25AC-6633772CAA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397361-9586-496E-9D0C-05473371388D}" type="slidenum">
              <a:rPr lang="en-ZA" smtClean="0"/>
              <a:t>‹N°›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6585837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407730-885C-D7F8-D8AF-7BFFD2DB73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B616968-DB35-9B17-16D7-9E8E179C45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9763528-11C3-BF1A-650D-55D23FA6C20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E83F0D4-6AEE-D2C3-0E17-9EC20ECE807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FD3901C-34E2-FDDE-C04B-8A57A58E00E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AF33B50-4B92-0DCF-E2FC-E678A77452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53421B-4862-4D3A-B9AB-BA663EF3CA0D}" type="datetimeFigureOut">
              <a:rPr lang="en-ZA" smtClean="0"/>
              <a:t>2026/06/19</a:t>
            </a:fld>
            <a:endParaRPr lang="en-Z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12F502E-4048-BC09-9EEA-3DD37BD881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B2AFAC6-BC30-CA12-3D0F-5E5B39A8CA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397361-9586-496E-9D0C-05473371388D}" type="slidenum">
              <a:rPr lang="en-ZA" smtClean="0"/>
              <a:t>‹N°›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41499652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C30565-D954-DD51-FC61-7354BF5719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23D8855-A4E2-0FB6-F3AB-6E6B78D5FD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53421B-4862-4D3A-B9AB-BA663EF3CA0D}" type="datetimeFigureOut">
              <a:rPr lang="en-ZA" smtClean="0"/>
              <a:t>2026/06/19</a:t>
            </a:fld>
            <a:endParaRPr lang="en-Z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90BA00B-F3B4-3A54-0B38-81611AA24B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EA485BC-2DE8-2A65-7AE0-3D1B23F5EC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397361-9586-496E-9D0C-05473371388D}" type="slidenum">
              <a:rPr lang="en-ZA" smtClean="0"/>
              <a:t>‹N°›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8339564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EB18452-EF96-33BB-7F6E-0DDA165D00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53421B-4862-4D3A-B9AB-BA663EF3CA0D}" type="datetimeFigureOut">
              <a:rPr lang="en-ZA" smtClean="0"/>
              <a:t>2026/06/19</a:t>
            </a:fld>
            <a:endParaRPr lang="en-Z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2F7A3FB-2588-2460-33BD-3829251A64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B8AB309-BD21-BDD0-56C2-C2B4538092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397361-9586-496E-9D0C-05473371388D}" type="slidenum">
              <a:rPr lang="en-ZA" smtClean="0"/>
              <a:t>‹N°›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7399644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66FEBD-EFB0-5161-8EF3-1A9BA24BEF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8CA531-4543-FF8B-A654-EDE6D9CA3C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11517CA-852A-BF22-AC90-E0AE9FC1C97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7B14E24-AF51-C383-CE4B-AE6BA24B3C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53421B-4862-4D3A-B9AB-BA663EF3CA0D}" type="datetimeFigureOut">
              <a:rPr lang="en-ZA" smtClean="0"/>
              <a:t>2026/06/19</a:t>
            </a:fld>
            <a:endParaRPr lang="en-Z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47B76C4-7C27-40C1-49F4-B1EE093D80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9160C3B-9FE7-1976-47D7-66560038E4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397361-9586-496E-9D0C-05473371388D}" type="slidenum">
              <a:rPr lang="en-ZA" smtClean="0"/>
              <a:t>‹N°›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7362221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854D93-C144-23C7-CA6F-873A6CC606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A9215AF-1716-570B-4136-CFE06A6FC3C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Z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260860D-1DC4-1A90-F460-22FC03F6B4B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960B7BE-BD4D-D22D-5404-40B409D469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53421B-4862-4D3A-B9AB-BA663EF3CA0D}" type="datetimeFigureOut">
              <a:rPr lang="en-ZA" smtClean="0"/>
              <a:t>2026/06/19</a:t>
            </a:fld>
            <a:endParaRPr lang="en-Z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80CCFDF-5FAD-472D-B59B-4F5C73EDDE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4170FAB-0F52-5E6D-FC32-8B45CCA4F6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397361-9586-496E-9D0C-05473371388D}" type="slidenum">
              <a:rPr lang="en-ZA" smtClean="0"/>
              <a:t>‹N°›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7630279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C23BC2-667F-79D3-E71A-A3B96D660C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6AB11B3-DA3C-0543-E67C-1EC247C40B6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98CA22-B69F-103A-904F-45E3E910C7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53421B-4862-4D3A-B9AB-BA663EF3CA0D}" type="datetimeFigureOut">
              <a:rPr lang="en-ZA" smtClean="0"/>
              <a:t>2026/06/19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7624D7-40B0-DC4E-C182-4FB2B10F3D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E2B130-8251-A5B5-5693-BCD91E028D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397361-9586-496E-9D0C-05473371388D}" type="slidenum">
              <a:rPr lang="en-ZA" smtClean="0"/>
              <a:t>‹N°›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40885989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30596F4-2BD9-11C5-1555-DAEDCBFFF28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2528060-A750-36DB-C41C-E8512933D2B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06DE29-FDD0-B267-7BC1-07A2264DBF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53421B-4862-4D3A-B9AB-BA663EF3CA0D}" type="datetimeFigureOut">
              <a:rPr lang="en-ZA" smtClean="0"/>
              <a:t>2026/06/19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77CE0C-4578-5368-B11B-6AB263C1A7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C645D4-8321-BC8B-15AD-5C930D1F43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397361-9586-496E-9D0C-05473371388D}" type="slidenum">
              <a:rPr lang="en-ZA" smtClean="0"/>
              <a:t>‹N°›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72308471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2189880" y="2574000"/>
            <a:ext cx="4493520" cy="1495800"/>
          </a:xfrm>
          <a:prstGeom prst="rect">
            <a:avLst/>
          </a:prstGeom>
          <a:noFill/>
          <a:ln w="0">
            <a:noFill/>
          </a:ln>
          <a:effectLst>
            <a:outerShdw blurRad="57240" dist="19080" dir="5400000" rotWithShape="0">
              <a:srgbClr val="000000">
                <a:alpha val="50000"/>
              </a:srgbClr>
            </a:outerShdw>
          </a:effectLst>
        </p:spPr>
        <p:txBody>
          <a:bodyPr lIns="91440" tIns="91440" rIns="91440" bIns="91440" anchor="b">
            <a:noAutofit/>
          </a:bodyPr>
          <a:lstStyle/>
          <a:p>
            <a:pPr indent="0">
              <a:buNone/>
            </a:pPr>
            <a:r>
              <a:rPr lang="fr-FR" sz="4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  <p:extLst>
      <p:ext uri="{BB962C8B-B14F-4D97-AF65-F5344CB8AC3E}">
        <p14:creationId xmlns:p14="http://schemas.microsoft.com/office/powerpoint/2010/main" val="294203502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_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720000" y="45864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7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16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  <p:extLst>
      <p:ext uri="{BB962C8B-B14F-4D97-AF65-F5344CB8AC3E}">
        <p14:creationId xmlns:p14="http://schemas.microsoft.com/office/powerpoint/2010/main" val="4669012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pattFill prst="lgGrid">
          <a:fgClr>
            <a:schemeClr val="bg1">
              <a:lumMod val="95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333860E-B5F2-D006-098F-5A530B6F0D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82BB4DC-DF4C-F411-CE4C-83FFF29CF7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772BCA-DAAD-FDF6-DB26-BFA1C806494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353421B-4862-4D3A-B9AB-BA663EF3CA0D}" type="datetimeFigureOut">
              <a:rPr lang="en-ZA" smtClean="0"/>
              <a:t>2026/06/19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735681-8A91-D98D-3E29-2C45B39983A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E9544A-EECF-EBAD-93C7-517233F0178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6397361-9586-496E-9D0C-05473371388D}" type="slidenum">
              <a:rPr lang="en-ZA" smtClean="0"/>
              <a:t>‹N°›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9281263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26" r:id="rId1"/>
    <p:sldLayoutId id="2147483827" r:id="rId2"/>
    <p:sldLayoutId id="2147483828" r:id="rId3"/>
    <p:sldLayoutId id="2147483829" r:id="rId4"/>
    <p:sldLayoutId id="2147483830" r:id="rId5"/>
    <p:sldLayoutId id="2147483831" r:id="rId6"/>
    <p:sldLayoutId id="2147483832" r:id="rId7"/>
    <p:sldLayoutId id="2147483833" r:id="rId8"/>
    <p:sldLayoutId id="2147483834" r:id="rId9"/>
    <p:sldLayoutId id="2147483835" r:id="rId10"/>
    <p:sldLayoutId id="2147483836" r:id="rId11"/>
    <p:sldLayoutId id="2147483837" r:id="rId12"/>
    <p:sldLayoutId id="2147483839" r:id="rId13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 descr="Generated image: Python programming course cover design">
            <a:extLst>
              <a:ext uri="{FF2B5EF4-FFF2-40B4-BE49-F238E27FC236}">
                <a16:creationId xmlns:a16="http://schemas.microsoft.com/office/drawing/2014/main" id="{AAACFFB3-435A-D176-4314-2BD5401AD6C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241935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ZA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DC2ABBC-EDAF-BC7E-4C08-81CF758A528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6322"/>
          <a:stretch>
            <a:fillRect/>
          </a:stretch>
        </p:blipFill>
        <p:spPr>
          <a:xfrm>
            <a:off x="1" y="0"/>
            <a:ext cx="9144000" cy="504804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>
            <a:extLst>
              <a:ext uri="{FF2B5EF4-FFF2-40B4-BE49-F238E27FC236}">
                <a16:creationId xmlns:a16="http://schemas.microsoft.com/office/drawing/2014/main" id="{951C6DBB-D348-4288-48F2-0A5FCDAD74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73195" y="1240394"/>
            <a:ext cx="6400800" cy="5539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r" defTabSz="914400" rtl="1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ar-SA" altLang="en-US" sz="1800" b="0" i="0" u="none" strike="noStrike" cap="none" normalizeH="0" baseline="0" dirty="0">
                <a:ln>
                  <a:noFill/>
                </a:ln>
                <a:solidFill>
                  <a:srgbClr val="1F1F1F"/>
                </a:solidFill>
                <a:effectLst/>
                <a:latin typeface="Google Sans Text"/>
                <a:cs typeface="Arial" panose="020B0604020202020204" pitchFamily="34" charset="0"/>
              </a:rPr>
              <a:t>تعد التعليقات مهمة جداً في أي لغة برمجية، ولإضافة تعليقات إلى برنامج مكتوب بلغة </a:t>
            </a:r>
            <a:r>
              <a:rPr kumimoji="0" lang="ar-SA" altLang="en-US" sz="1800" b="0" i="0" u="none" strike="noStrike" cap="none" normalizeH="0" baseline="0" dirty="0" err="1">
                <a:ln>
                  <a:noFill/>
                </a:ln>
                <a:solidFill>
                  <a:srgbClr val="1F1F1F"/>
                </a:solidFill>
                <a:effectLst/>
                <a:latin typeface="Google Sans Text"/>
                <a:cs typeface="Arial" panose="020B0604020202020204" pitchFamily="34" charset="0"/>
              </a:rPr>
              <a:t>البايثون</a:t>
            </a:r>
            <a:r>
              <a:rPr kumimoji="0" lang="ar-SA" altLang="en-US" sz="1800" b="0" i="0" u="none" strike="noStrike" cap="none" normalizeH="0" baseline="0" dirty="0">
                <a:ln>
                  <a:noFill/>
                </a:ln>
                <a:solidFill>
                  <a:srgbClr val="1F1F1F"/>
                </a:solidFill>
                <a:effectLst/>
                <a:latin typeface="Google Sans Text"/>
                <a:cs typeface="Arial" panose="020B0604020202020204" pitchFamily="34" charset="0"/>
              </a:rPr>
              <a:t> نكتب علامة # أمام كل سطر من التعليق كالتالي:</a:t>
            </a:r>
            <a:endParaRPr kumimoji="0" lang="ar-SA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8B4224D-2391-E432-44B4-00027E744802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2480483" y="364047"/>
            <a:ext cx="6062935" cy="572400"/>
          </a:xfrm>
        </p:spPr>
        <p:txBody>
          <a:bodyPr/>
          <a:lstStyle/>
          <a:p>
            <a:r>
              <a:rPr lang="ar-DZ" dirty="0"/>
              <a:t>التعليقات في لغة بايثون </a:t>
            </a:r>
            <a:endParaRPr lang="en-ZA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163909C-8485-E247-27A6-0A26F3A46A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8275" y="1661605"/>
            <a:ext cx="3515505" cy="126520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5FA9F4D-1B5C-D8B3-849F-93BFBCF528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85430" y="3466682"/>
            <a:ext cx="4288491" cy="1513248"/>
          </a:xfrm>
          <a:prstGeom prst="rect">
            <a:avLst/>
          </a:prstGeom>
        </p:spPr>
      </p:pic>
      <p:sp>
        <p:nvSpPr>
          <p:cNvPr id="7" name="Rectangle 1">
            <a:extLst>
              <a:ext uri="{FF2B5EF4-FFF2-40B4-BE49-F238E27FC236}">
                <a16:creationId xmlns:a16="http://schemas.microsoft.com/office/drawing/2014/main" id="{951C6DBB-D348-4288-48F2-0A5FCDAD74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085" y="3008401"/>
            <a:ext cx="6400800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r" defTabSz="914400" rtl="1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ar-DZ" altLang="en-US" sz="1800" b="0" i="0" u="none" strike="noStrike" cap="none" normalizeH="0" baseline="0" dirty="0">
                <a:ln>
                  <a:noFill/>
                </a:ln>
                <a:solidFill>
                  <a:srgbClr val="1F1F1F"/>
                </a:solidFill>
                <a:effectLst/>
                <a:latin typeface="Google Sans Text"/>
                <a:cs typeface="Arial" panose="020B0604020202020204" pitchFamily="34" charset="0"/>
              </a:rPr>
              <a:t>أو بطريقة أخرى</a:t>
            </a:r>
            <a:endParaRPr kumimoji="0" lang="ar-SA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515037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85EA3E9-D245-4390-0D32-EE8FA7E6AD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367" y="1502980"/>
            <a:ext cx="7180497" cy="1714101"/>
          </a:xfrm>
          <a:prstGeom prst="rect">
            <a:avLst/>
          </a:prstGeom>
        </p:spPr>
      </p:pic>
      <p:sp>
        <p:nvSpPr>
          <p:cNvPr id="6" name="ZoneTexte 5"/>
          <p:cNvSpPr txBox="1"/>
          <p:nvPr/>
        </p:nvSpPr>
        <p:spPr>
          <a:xfrm>
            <a:off x="442127" y="874206"/>
            <a:ext cx="61847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Write a code that prints this message</a:t>
            </a:r>
          </a:p>
        </p:txBody>
      </p:sp>
    </p:spTree>
    <p:extLst>
      <p:ext uri="{BB962C8B-B14F-4D97-AF65-F5344CB8AC3E}">
        <p14:creationId xmlns:p14="http://schemas.microsoft.com/office/powerpoint/2010/main" val="25400430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FC71D3-DD88-FA67-E56F-DFA2D2617A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9507" y="328917"/>
            <a:ext cx="7703640" cy="572400"/>
          </a:xfrm>
        </p:spPr>
        <p:txBody>
          <a:bodyPr/>
          <a:lstStyle/>
          <a:p>
            <a:r>
              <a:rPr lang="en-ZA" dirty="0"/>
              <a:t>Solution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46D16C4-13A2-4C22-FEAD-2FB8751DF5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9507" y="1339786"/>
            <a:ext cx="8464985" cy="24639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22044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2D4B4ED-C8B8-B30B-7FFE-05A0F4073036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948456" y="744839"/>
            <a:ext cx="7703640" cy="3776919"/>
          </a:xfrm>
        </p:spPr>
        <p:txBody>
          <a:bodyPr>
            <a:noAutofit/>
          </a:bodyPr>
          <a:lstStyle/>
          <a:p>
            <a:pPr algn="r" rtl="1"/>
            <a:r>
              <a:rPr lang="ar-DZ" sz="2800" dirty="0">
                <a:latin typeface="Arabic Typesetting" panose="03020402040406030203" pitchFamily="66" charset="-78"/>
                <a:cs typeface="Arabic Typesetting" panose="03020402040406030203" pitchFamily="66" charset="-78"/>
              </a:rPr>
              <a:t>المتغيرات </a:t>
            </a:r>
            <a:r>
              <a:rPr lang="en-US" sz="2800" dirty="0">
                <a:latin typeface="Arabic Typesetting" panose="03020402040406030203" pitchFamily="66" charset="-78"/>
                <a:cs typeface="Arabic Typesetting" panose="03020402040406030203" pitchFamily="66" charset="-78"/>
              </a:rPr>
              <a:t> </a:t>
            </a:r>
            <a:r>
              <a:rPr lang="en-ZA" sz="2800" b="1" dirty="0">
                <a:solidFill>
                  <a:schemeClr val="accent2"/>
                </a:solidFill>
                <a:latin typeface="Arabic Typesetting" panose="03020402040406030203" pitchFamily="66" charset="-78"/>
                <a:cs typeface="Arabic Typesetting" panose="03020402040406030203" pitchFamily="66" charset="-78"/>
              </a:rPr>
              <a:t>Variables</a:t>
            </a:r>
            <a:r>
              <a:rPr lang="en-ZA" sz="2800" dirty="0">
                <a:latin typeface="Arabic Typesetting" panose="03020402040406030203" pitchFamily="66" charset="-78"/>
                <a:cs typeface="Arabic Typesetting" panose="03020402040406030203" pitchFamily="66" charset="-78"/>
              </a:rPr>
              <a:t>  </a:t>
            </a:r>
            <a:r>
              <a:rPr lang="ar-DZ" sz="2800" dirty="0">
                <a:latin typeface="Arabic Typesetting" panose="03020402040406030203" pitchFamily="66" charset="-78"/>
                <a:cs typeface="Arabic Typesetting" panose="03020402040406030203" pitchFamily="66" charset="-78"/>
              </a:rPr>
              <a:t>في البرمجة هي بمثابة </a:t>
            </a:r>
            <a:r>
              <a:rPr lang="ar-DZ" sz="2800" b="1" dirty="0">
                <a:latin typeface="Arabic Typesetting" panose="03020402040406030203" pitchFamily="66" charset="-78"/>
                <a:cs typeface="Arabic Typesetting" panose="03020402040406030203" pitchFamily="66" charset="-78"/>
              </a:rPr>
              <a:t>حاويات</a:t>
            </a:r>
            <a:r>
              <a:rPr lang="ar-DZ" sz="2800" dirty="0">
                <a:latin typeface="Arabic Typesetting" panose="03020402040406030203" pitchFamily="66" charset="-78"/>
                <a:cs typeface="Arabic Typesetting" panose="03020402040406030203" pitchFamily="66" charset="-78"/>
              </a:rPr>
              <a:t> أو </a:t>
            </a:r>
            <a:r>
              <a:rPr lang="ar-DZ" sz="2800" b="1" dirty="0">
                <a:latin typeface="Arabic Typesetting" panose="03020402040406030203" pitchFamily="66" charset="-78"/>
                <a:cs typeface="Arabic Typesetting" panose="03020402040406030203" pitchFamily="66" charset="-78"/>
              </a:rPr>
              <a:t>صناديق محجوزة في ذاكرة الحاسوب</a:t>
            </a:r>
            <a:r>
              <a:rPr lang="ar-DZ" sz="2800" dirty="0">
                <a:latin typeface="Arabic Typesetting" panose="03020402040406030203" pitchFamily="66" charset="-78"/>
                <a:cs typeface="Arabic Typesetting" panose="03020402040406030203" pitchFamily="66" charset="-78"/>
              </a:rPr>
              <a:t> تُستخدم لتخزين البيانات، بحيث يمكنك استدعاؤها أو تعديلها أثناء تشغيل البرنامج.</a:t>
            </a:r>
            <a:endParaRPr lang="en-ZA" sz="2800" dirty="0">
              <a:latin typeface="Arabic Typesetting" panose="03020402040406030203" pitchFamily="66" charset="-78"/>
              <a:cs typeface="Arabic Typesetting" panose="03020402040406030203" pitchFamily="66" charset="-78"/>
            </a:endParaRPr>
          </a:p>
          <a:p>
            <a:pPr algn="r" rtl="1"/>
            <a:r>
              <a:rPr lang="ar-DZ" sz="2800" b="1" dirty="0">
                <a:latin typeface="Arabic Typesetting" panose="03020402040406030203" pitchFamily="66" charset="-78"/>
                <a:cs typeface="Arabic Typesetting" panose="03020402040406030203" pitchFamily="66" charset="-78"/>
              </a:rPr>
              <a:t>شروط تسمية المتغيرات</a:t>
            </a:r>
          </a:p>
          <a:p>
            <a:pPr marL="457200" indent="-457200" algn="r" rtl="1">
              <a:buFont typeface="Arial" panose="020B0604020202020204" pitchFamily="34" charset="0"/>
              <a:buChar char="•"/>
            </a:pPr>
            <a:r>
              <a:rPr lang="ar-DZ" sz="2800" dirty="0">
                <a:latin typeface="Arabic Typesetting" panose="03020402040406030203" pitchFamily="66" charset="-78"/>
                <a:cs typeface="Arabic Typesetting" panose="03020402040406030203" pitchFamily="66" charset="-78"/>
              </a:rPr>
              <a:t>عند اختيار اسم للمتغير، هناك قواعد ذهبية يجب اتباعها ليعمل الكود بدون أخطاء:</a:t>
            </a:r>
          </a:p>
          <a:p>
            <a:pPr marL="457200" indent="-457200" algn="r" rtl="1">
              <a:buFont typeface="Arial" panose="020B0604020202020204" pitchFamily="34" charset="0"/>
              <a:buChar char="•"/>
            </a:pPr>
            <a:r>
              <a:rPr lang="ar-DZ" sz="2800" b="1" dirty="0">
                <a:latin typeface="Arabic Typesetting" panose="03020402040406030203" pitchFamily="66" charset="-78"/>
                <a:cs typeface="Arabic Typesetting" panose="03020402040406030203" pitchFamily="66" charset="-78"/>
              </a:rPr>
              <a:t>يجب</a:t>
            </a:r>
            <a:r>
              <a:rPr lang="ar-DZ" sz="2800" dirty="0">
                <a:latin typeface="Arabic Typesetting" panose="03020402040406030203" pitchFamily="66" charset="-78"/>
                <a:cs typeface="Arabic Typesetting" panose="03020402040406030203" pitchFamily="66" charset="-78"/>
              </a:rPr>
              <a:t> أن يبدأ اسم المتغير بحرف أو بشرطة سفلية _.</a:t>
            </a:r>
          </a:p>
          <a:p>
            <a:pPr marL="457200" indent="-457200" algn="r" rtl="1">
              <a:buFont typeface="Arial" panose="020B0604020202020204" pitchFamily="34" charset="0"/>
              <a:buChar char="•"/>
            </a:pPr>
            <a:r>
              <a:rPr lang="ar-DZ" sz="2800" b="1" dirty="0">
                <a:latin typeface="Arabic Typesetting" panose="03020402040406030203" pitchFamily="66" charset="-78"/>
                <a:cs typeface="Arabic Typesetting" panose="03020402040406030203" pitchFamily="66" charset="-78"/>
              </a:rPr>
              <a:t>لا يمكن</a:t>
            </a:r>
            <a:r>
              <a:rPr lang="ar-DZ" sz="2800" dirty="0">
                <a:latin typeface="Arabic Typesetting" panose="03020402040406030203" pitchFamily="66" charset="-78"/>
                <a:cs typeface="Arabic Typesetting" panose="03020402040406030203" pitchFamily="66" charset="-78"/>
              </a:rPr>
              <a:t> أن يبدأ برقم (مثلاً: </a:t>
            </a:r>
            <a:r>
              <a:rPr lang="en-ZA" sz="2800" dirty="0">
                <a:solidFill>
                  <a:schemeClr val="accent2"/>
                </a:solidFill>
                <a:latin typeface="Arabic Typesetting" panose="03020402040406030203" pitchFamily="66" charset="-78"/>
                <a:cs typeface="Arabic Typesetting" panose="03020402040406030203" pitchFamily="66" charset="-78"/>
              </a:rPr>
              <a:t>number</a:t>
            </a:r>
            <a:r>
              <a:rPr lang="en-ZA" sz="2800" dirty="0">
                <a:latin typeface="Arabic Typesetting" panose="03020402040406030203" pitchFamily="66" charset="-78"/>
                <a:cs typeface="Arabic Typesetting" panose="03020402040406030203" pitchFamily="66" charset="-78"/>
              </a:rPr>
              <a:t> </a:t>
            </a:r>
            <a:r>
              <a:rPr lang="ar-DZ" sz="2800" dirty="0">
                <a:solidFill>
                  <a:schemeClr val="accent2"/>
                </a:solidFill>
                <a:latin typeface="Arabic Typesetting" panose="03020402040406030203" pitchFamily="66" charset="-78"/>
                <a:cs typeface="Arabic Typesetting" panose="03020402040406030203" pitchFamily="66" charset="-78"/>
              </a:rPr>
              <a:t>1</a:t>
            </a:r>
            <a:r>
              <a:rPr lang="ar-DZ" sz="2800" dirty="0">
                <a:latin typeface="Arabic Typesetting" panose="03020402040406030203" pitchFamily="66" charset="-78"/>
                <a:cs typeface="Arabic Typesetting" panose="03020402040406030203" pitchFamily="66" charset="-78"/>
              </a:rPr>
              <a:t>خطأ، بينما </a:t>
            </a:r>
            <a:r>
              <a:rPr lang="en-ZA" sz="2800" dirty="0">
                <a:solidFill>
                  <a:schemeClr val="accent2"/>
                </a:solidFill>
                <a:latin typeface="Arabic Typesetting" panose="03020402040406030203" pitchFamily="66" charset="-78"/>
                <a:cs typeface="Arabic Typesetting" panose="03020402040406030203" pitchFamily="66" charset="-78"/>
              </a:rPr>
              <a:t>number1</a:t>
            </a:r>
            <a:r>
              <a:rPr lang="en-ZA" sz="2800" dirty="0">
                <a:latin typeface="Arabic Typesetting" panose="03020402040406030203" pitchFamily="66" charset="-78"/>
                <a:cs typeface="Arabic Typesetting" panose="03020402040406030203" pitchFamily="66" charset="-78"/>
              </a:rPr>
              <a:t> </a:t>
            </a:r>
            <a:r>
              <a:rPr lang="ar-DZ" sz="2800" dirty="0">
                <a:latin typeface="Arabic Typesetting" panose="03020402040406030203" pitchFamily="66" charset="-78"/>
                <a:cs typeface="Arabic Typesetting" panose="03020402040406030203" pitchFamily="66" charset="-78"/>
              </a:rPr>
              <a:t> صحيح).</a:t>
            </a:r>
          </a:p>
          <a:p>
            <a:pPr marL="457200" indent="-457200" algn="r" rtl="1">
              <a:buFont typeface="Arial" panose="020B0604020202020204" pitchFamily="34" charset="0"/>
              <a:buChar char="•"/>
            </a:pPr>
            <a:r>
              <a:rPr lang="ar-DZ" sz="2800" b="1" dirty="0">
                <a:latin typeface="Arabic Typesetting" panose="03020402040406030203" pitchFamily="66" charset="-78"/>
                <a:cs typeface="Arabic Typesetting" panose="03020402040406030203" pitchFamily="66" charset="-78"/>
              </a:rPr>
              <a:t>حساس لحالة الأحرف:</a:t>
            </a:r>
            <a:r>
              <a:rPr lang="ar-DZ" sz="2800" dirty="0">
                <a:latin typeface="Arabic Typesetting" panose="03020402040406030203" pitchFamily="66" charset="-78"/>
                <a:cs typeface="Arabic Typesetting" panose="03020402040406030203" pitchFamily="66" charset="-78"/>
              </a:rPr>
              <a:t> المتغير  </a:t>
            </a:r>
            <a:r>
              <a:rPr lang="en-ZA" sz="2800" dirty="0">
                <a:solidFill>
                  <a:schemeClr val="accent2"/>
                </a:solidFill>
                <a:latin typeface="Arabic Typesetting" panose="03020402040406030203" pitchFamily="66" charset="-78"/>
                <a:cs typeface="Arabic Typesetting" panose="03020402040406030203" pitchFamily="66" charset="-78"/>
              </a:rPr>
              <a:t>Age</a:t>
            </a:r>
            <a:r>
              <a:rPr lang="ar-DZ" sz="2800" dirty="0">
                <a:latin typeface="Arabic Typesetting" panose="03020402040406030203" pitchFamily="66" charset="-78"/>
                <a:cs typeface="Arabic Typesetting" panose="03020402040406030203" pitchFamily="66" charset="-78"/>
              </a:rPr>
              <a:t> </a:t>
            </a:r>
            <a:r>
              <a:rPr lang="en-ZA" sz="2800" dirty="0">
                <a:latin typeface="Arabic Typesetting" panose="03020402040406030203" pitchFamily="66" charset="-78"/>
                <a:cs typeface="Arabic Typesetting" panose="03020402040406030203" pitchFamily="66" charset="-78"/>
              </a:rPr>
              <a:t> </a:t>
            </a:r>
            <a:r>
              <a:rPr lang="ar-DZ" sz="2800" dirty="0">
                <a:latin typeface="Arabic Typesetting" panose="03020402040406030203" pitchFamily="66" charset="-78"/>
                <a:cs typeface="Arabic Typesetting" panose="03020402040406030203" pitchFamily="66" charset="-78"/>
              </a:rPr>
              <a:t>يختلف تماماً عن </a:t>
            </a:r>
            <a:r>
              <a:rPr lang="en-ZA" sz="2800" dirty="0">
                <a:solidFill>
                  <a:schemeClr val="accent2"/>
                </a:solidFill>
                <a:latin typeface="Arabic Typesetting" panose="03020402040406030203" pitchFamily="66" charset="-78"/>
                <a:cs typeface="Arabic Typesetting" panose="03020402040406030203" pitchFamily="66" charset="-78"/>
              </a:rPr>
              <a:t>age</a:t>
            </a:r>
            <a:r>
              <a:rPr lang="en-ZA" sz="2800" dirty="0">
                <a:latin typeface="Arabic Typesetting" panose="03020402040406030203" pitchFamily="66" charset="-78"/>
                <a:cs typeface="Arabic Typesetting" panose="03020402040406030203" pitchFamily="66" charset="-78"/>
              </a:rPr>
              <a:t>.</a:t>
            </a:r>
          </a:p>
          <a:p>
            <a:pPr marL="457200" indent="-457200" algn="r" rtl="1">
              <a:buFont typeface="Arial" panose="020B0604020202020204" pitchFamily="34" charset="0"/>
              <a:buChar char="•"/>
            </a:pPr>
            <a:r>
              <a:rPr lang="ar-DZ" sz="2800" b="1" dirty="0">
                <a:latin typeface="Arabic Typesetting" panose="03020402040406030203" pitchFamily="66" charset="-78"/>
                <a:cs typeface="Arabic Typesetting" panose="03020402040406030203" pitchFamily="66" charset="-78"/>
              </a:rPr>
              <a:t>يحتوي فقط</a:t>
            </a:r>
            <a:r>
              <a:rPr lang="ar-DZ" sz="2800" dirty="0">
                <a:latin typeface="Arabic Typesetting" panose="03020402040406030203" pitchFamily="66" charset="-78"/>
                <a:cs typeface="Arabic Typesetting" panose="03020402040406030203" pitchFamily="66" charset="-78"/>
              </a:rPr>
              <a:t> على حروف، أرقام، وشرطة سفلية (</a:t>
            </a:r>
            <a:r>
              <a:rPr lang="en-ZA" sz="2800" dirty="0">
                <a:latin typeface="Arabic Typesetting" panose="03020402040406030203" pitchFamily="66" charset="-78"/>
                <a:cs typeface="Arabic Typesetting" panose="03020402040406030203" pitchFamily="66" charset="-78"/>
              </a:rPr>
              <a:t>A-z, 0-9, _).</a:t>
            </a:r>
          </a:p>
          <a:p>
            <a:pPr marL="457200" indent="-457200" algn="r" rtl="1">
              <a:buFont typeface="Arial" panose="020B0604020202020204" pitchFamily="34" charset="0"/>
              <a:buChar char="•"/>
            </a:pPr>
            <a:r>
              <a:rPr lang="ar-DZ" sz="2800" b="1" dirty="0">
                <a:latin typeface="Arabic Typesetting" panose="03020402040406030203" pitchFamily="66" charset="-78"/>
                <a:cs typeface="Arabic Typesetting" panose="03020402040406030203" pitchFamily="66" charset="-78"/>
              </a:rPr>
              <a:t>لا يمكن</a:t>
            </a:r>
            <a:r>
              <a:rPr lang="ar-DZ" sz="2800" dirty="0">
                <a:latin typeface="Arabic Typesetting" panose="03020402040406030203" pitchFamily="66" charset="-78"/>
                <a:cs typeface="Arabic Typesetting" panose="03020402040406030203" pitchFamily="66" charset="-78"/>
              </a:rPr>
              <a:t> استخدام الكلمات المحجوزة في اللغة  مثل </a:t>
            </a:r>
            <a:r>
              <a:rPr lang="en-ZA" sz="2800" dirty="0">
                <a:solidFill>
                  <a:schemeClr val="accent2"/>
                </a:solidFill>
                <a:latin typeface="Arabic Typesetting" panose="03020402040406030203" pitchFamily="66" charset="-78"/>
                <a:cs typeface="Arabic Typesetting" panose="03020402040406030203" pitchFamily="66" charset="-78"/>
              </a:rPr>
              <a:t>if, for, print</a:t>
            </a:r>
            <a:r>
              <a:rPr lang="ar-DZ" sz="2800" dirty="0">
                <a:solidFill>
                  <a:schemeClr val="accent2"/>
                </a:solidFill>
                <a:latin typeface="Arabic Typesetting" panose="03020402040406030203" pitchFamily="66" charset="-78"/>
                <a:cs typeface="Arabic Typesetting" panose="03020402040406030203" pitchFamily="66" charset="-78"/>
              </a:rPr>
              <a:t> </a:t>
            </a:r>
            <a:r>
              <a:rPr lang="en-ZA" sz="2800" dirty="0">
                <a:latin typeface="Arabic Typesetting" panose="03020402040406030203" pitchFamily="66" charset="-78"/>
                <a:cs typeface="Arabic Typesetting" panose="03020402040406030203" pitchFamily="66" charset="-78"/>
              </a:rPr>
              <a:t>.</a:t>
            </a:r>
          </a:p>
          <a:p>
            <a:pPr marL="457200" indent="-457200" algn="r" rtl="1">
              <a:buFont typeface="Arial" panose="020B0604020202020204" pitchFamily="34" charset="0"/>
              <a:buChar char="•"/>
            </a:pPr>
            <a:endParaRPr lang="en-ZA" sz="2800" dirty="0">
              <a:latin typeface="Arabic Typesetting" panose="03020402040406030203" pitchFamily="66" charset="-78"/>
              <a:cs typeface="Arabic Typesetting" panose="03020402040406030203" pitchFamily="66" charset="-78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462634B-AB67-81C9-DE82-040F407E7A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928" y="172439"/>
            <a:ext cx="7703640" cy="572400"/>
          </a:xfrm>
        </p:spPr>
        <p:txBody>
          <a:bodyPr/>
          <a:lstStyle/>
          <a:p>
            <a:pPr algn="r" rtl="1"/>
            <a:r>
              <a:rPr lang="ar-DZ" dirty="0"/>
              <a:t>المتغيرات</a:t>
            </a:r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313312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 descr="🔤 Python Variables and Data Types: The Ultimate Beginner's Guide | by  Karan Ji | Medium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05876" y="281400"/>
            <a:ext cx="4568895" cy="456889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123799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Espace réservé du texte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5" name="Imag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5937" y="1474828"/>
            <a:ext cx="7171765" cy="244026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75302047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12034" y="-437322"/>
            <a:ext cx="9660834" cy="55474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242098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2075</TotalTime>
  <Words>151</Words>
  <Application>Microsoft Office PowerPoint</Application>
  <PresentationFormat>Affichage à l'écran (16:9)</PresentationFormat>
  <Paragraphs>14</Paragraphs>
  <Slides>8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7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8</vt:i4>
      </vt:variant>
    </vt:vector>
  </HeadingPairs>
  <TitlesOfParts>
    <vt:vector size="16" baseType="lpstr">
      <vt:lpstr>Arabic Typesetting</vt:lpstr>
      <vt:lpstr>Arial</vt:lpstr>
      <vt:lpstr>Calibri</vt:lpstr>
      <vt:lpstr>Calibri Light</vt:lpstr>
      <vt:lpstr>Google Sans Text</vt:lpstr>
      <vt:lpstr>Symbol</vt:lpstr>
      <vt:lpstr>Wingdings</vt:lpstr>
      <vt:lpstr>Office Theme</vt:lpstr>
      <vt:lpstr>Présentation PowerPoint</vt:lpstr>
      <vt:lpstr>Présentation PowerPoint</vt:lpstr>
      <vt:lpstr>Présentation PowerPoint</vt:lpstr>
      <vt:lpstr>Solution </vt:lpstr>
      <vt:lpstr>المتغيرات</vt:lpstr>
      <vt:lpstr>Présentation PowerPoint</vt:lpstr>
      <vt:lpstr>Présentation PowerPoint</vt:lpstr>
      <vt:lpstr>Présentation PowerPoint</vt:lpstr>
    </vt:vector>
  </TitlesOfParts>
  <Company>Microsoft Corporation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pc</dc:creator>
  <cp:lastModifiedBy>BENSLIMANE CH</cp:lastModifiedBy>
  <cp:revision>14</cp:revision>
  <dcterms:modified xsi:type="dcterms:W3CDTF">2026-06-19T18:26:03Z</dcterms:modified>
</cp:coreProperties>
</file>

<file path=docProps/core0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2026-06-09T18:11:38Z</dcterms:created>
  <dc:creator>Unknown Creator</dc:creator>
  <dc:description/>
  <dc:language>en-US</dc:language>
  <cp:lastModifiedBy>Unknown Creator</cp:lastModifiedBy>
  <dcterms:modified xsi:type="dcterms:W3CDTF">2026-06-09T18:11:38Z</dcterms:modified>
  <cp:revision>0</cp:revision>
  <dc:subject/>
  <dc:title>Untitled 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Slides">
    <vt:r8>12</vt:r8>
  </property>
</Properties>
</file>